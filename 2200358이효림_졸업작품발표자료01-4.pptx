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media42.mp4" ContentType="video/mp4"/>
  <Override PartName="/ppt/media/image3.svg" ContentType="image/svg"/>
  <Override PartName="/ppt/media/image5.svg" ContentType="image/sv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rawing1.xml" ContentType="application/vnd.ms-office.drawingml.diagramDrawing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2.xml" ContentType="application/vnd.ms-office.drawingml.diagramDrawing+xml"/>
  <Override PartName="/ppt/diagrams/colors1.xml" ContentType="application/vnd.openxmlformats-officedocument.drawingml.diagramColors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layout2.xml" ContentType="application/vnd.openxmlformats-officedocument.drawingml.diagramLayout+xml"/>
  <Override PartName="/ppt/diagrams/colors2.xml" ContentType="application/vnd.openxmlformats-officedocument.drawingml.diagramColors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47190D-D766-40BD-A7F4-9392A7F1B705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5A82ADCF-4ABF-4C4B-B8D6-5B1D6FDFC237}">
      <dgm:prSet phldrT="[텍스트]" custT="1"/>
      <dgm:spPr>
        <a:solidFill>
          <a:schemeClr val="bg2">
            <a:lumMod val="50000"/>
          </a:schemeClr>
        </a:solidFill>
      </dgm:spPr>
      <dgm:t>
        <a:bodyPr/>
        <a:lstStyle/>
        <a:p>
          <a:pPr latinLnBrk="1"/>
          <a:r>
            <a:rPr lang="en-US" altLang="ko-KR" sz="1800" dirty="0">
              <a:latin typeface="나눔명조" panose="02020603020101020101" pitchFamily="18" charset="-127"/>
              <a:ea typeface="나눔명조" panose="02020603020101020101" pitchFamily="18" charset="-127"/>
            </a:rPr>
            <a:t>2. </a:t>
          </a:r>
          <a:r>
            <a:rPr lang="ko-KR" altLang="en-US" sz="1800" dirty="0">
              <a:latin typeface="나눔명조" panose="02020603020101020101" pitchFamily="18" charset="-127"/>
              <a:ea typeface="나눔명조" panose="02020603020101020101" pitchFamily="18" charset="-127"/>
            </a:rPr>
            <a:t>확실한 대여 및 반납 시스템</a:t>
          </a:r>
          <a:endParaRPr lang="en-US" altLang="ko-KR" sz="18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latinLnBrk="1"/>
          <a:r>
            <a:rPr lang="ko-KR" altLang="en-US" sz="1200" dirty="0"/>
            <a:t>영상 처리 </a:t>
          </a:r>
          <a:r>
            <a:rPr lang="en-US" altLang="ko-KR" sz="1200" dirty="0"/>
            <a:t>/ GPS / </a:t>
          </a:r>
          <a:r>
            <a:rPr lang="ko-KR" altLang="en-US" sz="1200" dirty="0"/>
            <a:t>생체 인식을</a:t>
          </a:r>
          <a:endParaRPr lang="en-US" altLang="ko-KR" sz="1200" dirty="0"/>
        </a:p>
        <a:p>
          <a:pPr latinLnBrk="1"/>
          <a:r>
            <a:rPr lang="ko-KR" altLang="en-US" sz="1200" dirty="0"/>
            <a:t>통한 전 과정의 자동화</a:t>
          </a:r>
        </a:p>
      </dgm:t>
    </dgm:pt>
    <dgm:pt modelId="{54A85E7C-B7EA-439E-9CE8-664F53443641}" type="parTrans" cxnId="{E15864A3-510B-467E-8F1E-3764D40D8193}">
      <dgm:prSet/>
      <dgm:spPr>
        <a:pattFill prst="dkVert">
          <a:fgClr>
            <a:schemeClr val="bg2">
              <a:lumMod val="50000"/>
            </a:schemeClr>
          </a:fgClr>
          <a:bgClr>
            <a:schemeClr val="bg1"/>
          </a:bgClr>
        </a:pattFill>
      </dgm:spPr>
      <dgm:t>
        <a:bodyPr/>
        <a:lstStyle/>
        <a:p>
          <a:pPr latinLnBrk="1"/>
          <a:endParaRPr lang="ko-KR" altLang="en-US"/>
        </a:p>
      </dgm:t>
    </dgm:pt>
    <dgm:pt modelId="{C1E42B03-0766-4DE1-BEB9-5273EF25A1DD}" type="sibTrans" cxnId="{E15864A3-510B-467E-8F1E-3764D40D8193}">
      <dgm:prSet/>
      <dgm:spPr/>
      <dgm:t>
        <a:bodyPr/>
        <a:lstStyle/>
        <a:p>
          <a:pPr latinLnBrk="1"/>
          <a:endParaRPr lang="ko-KR" altLang="en-US"/>
        </a:p>
      </dgm:t>
    </dgm:pt>
    <dgm:pt modelId="{9D6B2130-4888-4242-AEAD-4535AD403B66}">
      <dgm:prSet phldrT="[텍스트]" custT="1"/>
      <dgm:spPr>
        <a:solidFill>
          <a:schemeClr val="bg2">
            <a:lumMod val="50000"/>
          </a:schemeClr>
        </a:solidFill>
      </dgm:spPr>
      <dgm:t>
        <a:bodyPr/>
        <a:lstStyle/>
        <a:p>
          <a:pPr algn="ctr" rtl="0" latinLnBrk="1"/>
          <a:r>
            <a:rPr lang="en-US" altLang="ko-KR" sz="2000" dirty="0">
              <a:latin typeface="나눔명조"/>
              <a:ea typeface="나눔명조"/>
            </a:rPr>
            <a:t>3. </a:t>
          </a:r>
          <a:r>
            <a:rPr lang="ko-KR" altLang="en-US" sz="2000" dirty="0">
              <a:latin typeface="나눔명조"/>
              <a:ea typeface="나눔명조"/>
            </a:rPr>
            <a:t>품질 관리기능</a:t>
          </a:r>
          <a:endParaRPr lang="en-US" altLang="ko-KR" sz="20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algn="ctr" latinLnBrk="1"/>
          <a:r>
            <a:rPr lang="en-US" altLang="ko-KR" sz="1200" dirty="0"/>
            <a:t>AI</a:t>
          </a:r>
          <a:r>
            <a:rPr lang="ko-KR" altLang="en-US" sz="1200" dirty="0"/>
            <a:t>를 이용한 손상 탐지 및</a:t>
          </a:r>
          <a:endParaRPr lang="en-US" altLang="ko-KR" sz="1200" dirty="0"/>
        </a:p>
        <a:p>
          <a:pPr algn="ctr" latinLnBrk="1"/>
          <a:r>
            <a:rPr lang="ko-KR" altLang="en-US" sz="1200" dirty="0"/>
            <a:t>사용 패턴 분석과 </a:t>
          </a:r>
          <a:endParaRPr lang="en-US" altLang="ko-KR" sz="1200" dirty="0"/>
        </a:p>
        <a:p>
          <a:pPr algn="ctr" latinLnBrk="1"/>
          <a:r>
            <a:rPr lang="ko-KR" altLang="en-US" sz="1200" dirty="0"/>
            <a:t>이전 사용 리포트 제공 </a:t>
          </a:r>
          <a:endParaRPr lang="ko-KR" altLang="en-US" sz="1800" dirty="0">
            <a:latin typeface="맑은 고딕" panose="02110004020202020204"/>
            <a:ea typeface="맑은 고딕" panose="02110004020202020204"/>
          </a:endParaRPr>
        </a:p>
      </dgm:t>
    </dgm:pt>
    <dgm:pt modelId="{50FCF692-CF5F-4C30-901B-2B7AB6B1503A}" type="sibTrans" cxnId="{4C78CB35-BFF3-4033-B790-6D8D8DD69BD1}">
      <dgm:prSet/>
      <dgm:spPr/>
      <dgm:t>
        <a:bodyPr/>
        <a:lstStyle/>
        <a:p>
          <a:pPr latinLnBrk="1"/>
          <a:endParaRPr lang="ko-KR" altLang="en-US"/>
        </a:p>
      </dgm:t>
    </dgm:pt>
    <dgm:pt modelId="{03E00AD3-4EC6-4D1B-A579-396D28DE2ED3}" type="parTrans" cxnId="{4C78CB35-BFF3-4033-B790-6D8D8DD69BD1}">
      <dgm:prSet/>
      <dgm:spPr>
        <a:pattFill prst="wdDnDiag">
          <a:fgClr>
            <a:schemeClr val="bg2">
              <a:lumMod val="50000"/>
            </a:schemeClr>
          </a:fgClr>
          <a:bgClr>
            <a:schemeClr val="bg1"/>
          </a:bgClr>
        </a:pattFill>
      </dgm:spPr>
      <dgm:t>
        <a:bodyPr/>
        <a:lstStyle/>
        <a:p>
          <a:pPr latinLnBrk="1"/>
          <a:endParaRPr lang="ko-KR" altLang="en-US"/>
        </a:p>
      </dgm:t>
    </dgm:pt>
    <dgm:pt modelId="{AB85FCAB-DD1F-4E91-BEB7-3EDE6210AA8E}">
      <dgm:prSet phldrT="[텍스트]"/>
      <dgm:spPr>
        <a:solidFill>
          <a:schemeClr val="bg1"/>
        </a:solidFill>
      </dgm:spPr>
      <dgm:t>
        <a:bodyPr/>
        <a:lstStyle/>
        <a:p>
          <a:pPr latinLnBrk="1"/>
          <a:endParaRPr lang="en-US" altLang="ko-KR" u="sng" dirty="0">
            <a:latin typeface="궁서" panose="02030600000101010101" pitchFamily="18" charset="-127"/>
            <a:ea typeface="궁서" panose="02030600000101010101" pitchFamily="18" charset="-127"/>
          </a:endParaRPr>
        </a:p>
      </dgm:t>
    </dgm:pt>
    <dgm:pt modelId="{72B9198F-5F4D-4AC4-A2B8-F2124DB2D352}" type="sibTrans" cxnId="{CEAA841B-C9F3-41CC-94C9-7752068BAE33}">
      <dgm:prSet/>
      <dgm:spPr/>
      <dgm:t>
        <a:bodyPr/>
        <a:lstStyle/>
        <a:p>
          <a:pPr latinLnBrk="1"/>
          <a:endParaRPr lang="ko-KR" altLang="en-US"/>
        </a:p>
      </dgm:t>
    </dgm:pt>
    <dgm:pt modelId="{3B101AEC-797E-412A-A9D5-B14E29F587BC}" type="parTrans" cxnId="{CEAA841B-C9F3-41CC-94C9-7752068BAE33}">
      <dgm:prSet/>
      <dgm:spPr/>
      <dgm:t>
        <a:bodyPr/>
        <a:lstStyle/>
        <a:p>
          <a:pPr latinLnBrk="1"/>
          <a:endParaRPr lang="ko-KR" altLang="en-US"/>
        </a:p>
      </dgm:t>
    </dgm:pt>
    <dgm:pt modelId="{42982B5E-E614-44D5-868C-006DEF2EE4BA}">
      <dgm:prSet phldrT="[텍스트]" custT="1"/>
      <dgm:spPr>
        <a:solidFill>
          <a:schemeClr val="bg2">
            <a:lumMod val="25000"/>
          </a:schemeClr>
        </a:solidFill>
      </dgm:spPr>
      <dgm:t>
        <a:bodyPr/>
        <a:lstStyle/>
        <a:p>
          <a:pPr latinLnBrk="1"/>
          <a:r>
            <a:rPr lang="en-US" altLang="ko-KR" sz="2200" dirty="0">
              <a:latin typeface="나눔명조" panose="02020603020101020101" pitchFamily="18" charset="-127"/>
              <a:ea typeface="나눔명조" panose="02020603020101020101" pitchFamily="18" charset="-127"/>
            </a:rPr>
            <a:t>1. </a:t>
          </a:r>
          <a:r>
            <a:rPr lang="ko-KR" altLang="en-US" sz="2200" dirty="0">
              <a:latin typeface="나눔명조" panose="02020603020101020101" pitchFamily="18" charset="-127"/>
              <a:ea typeface="나눔명조" panose="02020603020101020101" pitchFamily="18" charset="-127"/>
            </a:rPr>
            <a:t>접근성 향상</a:t>
          </a:r>
          <a:endParaRPr lang="en-US" altLang="ko-KR" sz="22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latinLnBrk="1"/>
          <a:r>
            <a:rPr lang="ko-KR" altLang="en-US" sz="1200" dirty="0">
              <a:latin typeface="+mn-lt"/>
              <a:ea typeface="나눔명조" panose="02020603020101020101" pitchFamily="18" charset="-127"/>
            </a:rPr>
            <a:t>모바일 서비스를 통한 접근성 향상</a:t>
          </a:r>
          <a:endParaRPr lang="en-US" altLang="ko-KR" sz="1200" dirty="0">
            <a:latin typeface="+mn-lt"/>
            <a:ea typeface="나눔명조" panose="02020603020101020101" pitchFamily="18" charset="-127"/>
          </a:endParaRPr>
        </a:p>
        <a:p>
          <a:pPr latinLnBrk="1"/>
          <a:r>
            <a:rPr lang="ko-KR" altLang="en-US" sz="1200" dirty="0">
              <a:latin typeface="+mn-lt"/>
              <a:ea typeface="나눔명조" panose="02020603020101020101" pitchFamily="18" charset="-127"/>
            </a:rPr>
            <a:t>및 </a:t>
          </a:r>
          <a:r>
            <a:rPr lang="en-US" altLang="ko-KR" sz="1200" dirty="0">
              <a:latin typeface="+mn-lt"/>
              <a:ea typeface="나눔명조" panose="02020603020101020101" pitchFamily="18" charset="-127"/>
            </a:rPr>
            <a:t>24</a:t>
          </a:r>
          <a:r>
            <a:rPr lang="ko-KR" altLang="en-US" sz="1200" dirty="0">
              <a:latin typeface="+mn-lt"/>
              <a:ea typeface="나눔명조" panose="02020603020101020101" pitchFamily="18" charset="-127"/>
            </a:rPr>
            <a:t>시간 무인 대여 서비스 </a:t>
          </a:r>
          <a:endParaRPr lang="en-US" altLang="ko-KR" sz="1200" dirty="0">
            <a:latin typeface="+mn-lt"/>
            <a:ea typeface="나눔명조" panose="02020603020101020101" pitchFamily="18" charset="-127"/>
          </a:endParaRPr>
        </a:p>
      </dgm:t>
    </dgm:pt>
    <dgm:pt modelId="{A40333DA-DD62-45FB-8C4B-5E1C697C24A3}" type="sibTrans" cxnId="{8810A815-732B-4B41-9D90-6D263D9EC9FD}">
      <dgm:prSet/>
      <dgm:spPr/>
      <dgm:t>
        <a:bodyPr/>
        <a:lstStyle/>
        <a:p>
          <a:pPr latinLnBrk="1"/>
          <a:endParaRPr lang="ko-KR" altLang="en-US"/>
        </a:p>
      </dgm:t>
    </dgm:pt>
    <dgm:pt modelId="{63BC3B8B-F4F0-4C20-A16F-DF4936E35497}" type="parTrans" cxnId="{8810A815-732B-4B41-9D90-6D263D9EC9FD}">
      <dgm:prSet/>
      <dgm:spPr>
        <a:pattFill prst="wdDnDiag">
          <a:fgClr>
            <a:schemeClr val="bg2">
              <a:lumMod val="25000"/>
            </a:schemeClr>
          </a:fgClr>
          <a:bgClr>
            <a:schemeClr val="bg1"/>
          </a:bgClr>
        </a:pattFill>
      </dgm:spPr>
      <dgm:t>
        <a:bodyPr/>
        <a:lstStyle/>
        <a:p>
          <a:pPr latinLnBrk="1"/>
          <a:endParaRPr lang="ko-KR" altLang="en-US"/>
        </a:p>
      </dgm:t>
    </dgm:pt>
    <dgm:pt modelId="{8A09FF8E-6755-446B-8DD7-63B4016C3482}" type="pres">
      <dgm:prSet presAssocID="{0A47190D-D766-40BD-A7F4-9392A7F1B70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9E5286E-D2E7-45CB-99C6-D9912A3757A1}" type="pres">
      <dgm:prSet presAssocID="{AB85FCAB-DD1F-4E91-BEB7-3EDE6210AA8E}" presName="centerShape" presStyleLbl="node0" presStyleIdx="0" presStyleCnt="1" custLinFactNeighborX="0"/>
      <dgm:spPr/>
    </dgm:pt>
    <dgm:pt modelId="{C7E8D3D1-ED19-437E-B140-B604EDCC228A}" type="pres">
      <dgm:prSet presAssocID="{54A85E7C-B7EA-439E-9CE8-664F53443641}" presName="parTrans" presStyleLbl="bgSibTrans2D1" presStyleIdx="0" presStyleCnt="3"/>
      <dgm:spPr/>
    </dgm:pt>
    <dgm:pt modelId="{B67A9123-E4DB-447F-AFE1-A14DE195EB54}" type="pres">
      <dgm:prSet presAssocID="{5A82ADCF-4ABF-4C4B-B8D6-5B1D6FDFC237}" presName="node" presStyleLbl="node1" presStyleIdx="0" presStyleCnt="3" custScaleX="120217" custRadScaleRad="140679" custRadScaleInc="-20619">
        <dgm:presLayoutVars>
          <dgm:bulletEnabled val="1"/>
        </dgm:presLayoutVars>
      </dgm:prSet>
      <dgm:spPr/>
    </dgm:pt>
    <dgm:pt modelId="{441781D8-ECE0-4568-A157-D557A0FCC2B7}" type="pres">
      <dgm:prSet presAssocID="{63BC3B8B-F4F0-4C20-A16F-DF4936E35497}" presName="parTrans" presStyleLbl="bgSibTrans2D1" presStyleIdx="1" presStyleCnt="3"/>
      <dgm:spPr/>
    </dgm:pt>
    <dgm:pt modelId="{83DFAAF1-513A-462A-BF39-B153EE3630F9}" type="pres">
      <dgm:prSet presAssocID="{42982B5E-E614-44D5-868C-006DEF2EE4BA}" presName="node" presStyleLbl="node1" presStyleIdx="1" presStyleCnt="3" custScaleX="130644">
        <dgm:presLayoutVars>
          <dgm:bulletEnabled val="1"/>
        </dgm:presLayoutVars>
      </dgm:prSet>
      <dgm:spPr/>
    </dgm:pt>
    <dgm:pt modelId="{40A450D0-30CB-4623-BA30-73CF7186B7A4}" type="pres">
      <dgm:prSet presAssocID="{03E00AD3-4EC6-4D1B-A579-396D28DE2ED3}" presName="parTrans" presStyleLbl="bgSibTrans2D1" presStyleIdx="2" presStyleCnt="3"/>
      <dgm:spPr/>
    </dgm:pt>
    <dgm:pt modelId="{02AE63DB-20F8-4457-88C6-3C53225C3BE3}" type="pres">
      <dgm:prSet presAssocID="{9D6B2130-4888-4242-AEAD-4535AD403B66}" presName="node" presStyleLbl="node1" presStyleIdx="2" presStyleCnt="3" custScaleX="121306" custRadScaleRad="157061" custRadScaleInc="24735">
        <dgm:presLayoutVars>
          <dgm:bulletEnabled val="1"/>
        </dgm:presLayoutVars>
      </dgm:prSet>
      <dgm:spPr/>
    </dgm:pt>
  </dgm:ptLst>
  <dgm:cxnLst>
    <dgm:cxn modelId="{CD6BA003-A256-43DA-8355-A25245002625}" type="presOf" srcId="{5A82ADCF-4ABF-4C4B-B8D6-5B1D6FDFC237}" destId="{B67A9123-E4DB-447F-AFE1-A14DE195EB54}" srcOrd="0" destOrd="0" presId="urn:microsoft.com/office/officeart/2005/8/layout/radial4"/>
    <dgm:cxn modelId="{8810A815-732B-4B41-9D90-6D263D9EC9FD}" srcId="{AB85FCAB-DD1F-4E91-BEB7-3EDE6210AA8E}" destId="{42982B5E-E614-44D5-868C-006DEF2EE4BA}" srcOrd="1" destOrd="0" parTransId="{63BC3B8B-F4F0-4C20-A16F-DF4936E35497}" sibTransId="{A40333DA-DD62-45FB-8C4B-5E1C697C24A3}"/>
    <dgm:cxn modelId="{630F8E17-BCC3-4ACF-A633-3DCEA02E093F}" type="presOf" srcId="{63BC3B8B-F4F0-4C20-A16F-DF4936E35497}" destId="{441781D8-ECE0-4568-A157-D557A0FCC2B7}" srcOrd="0" destOrd="0" presId="urn:microsoft.com/office/officeart/2005/8/layout/radial4"/>
    <dgm:cxn modelId="{CEAA841B-C9F3-41CC-94C9-7752068BAE33}" srcId="{0A47190D-D766-40BD-A7F4-9392A7F1B705}" destId="{AB85FCAB-DD1F-4E91-BEB7-3EDE6210AA8E}" srcOrd="0" destOrd="0" parTransId="{3B101AEC-797E-412A-A9D5-B14E29F587BC}" sibTransId="{72B9198F-5F4D-4AC4-A2B8-F2124DB2D352}"/>
    <dgm:cxn modelId="{4C78CB35-BFF3-4033-B790-6D8D8DD69BD1}" srcId="{AB85FCAB-DD1F-4E91-BEB7-3EDE6210AA8E}" destId="{9D6B2130-4888-4242-AEAD-4535AD403B66}" srcOrd="2" destOrd="0" parTransId="{03E00AD3-4EC6-4D1B-A579-396D28DE2ED3}" sibTransId="{50FCF692-CF5F-4C30-901B-2B7AB6B1503A}"/>
    <dgm:cxn modelId="{6E4FDC45-329E-40A0-878B-8C354A0B9693}" type="presOf" srcId="{9D6B2130-4888-4242-AEAD-4535AD403B66}" destId="{02AE63DB-20F8-4457-88C6-3C53225C3BE3}" srcOrd="0" destOrd="0" presId="urn:microsoft.com/office/officeart/2005/8/layout/radial4"/>
    <dgm:cxn modelId="{F8E4547C-311F-4F88-B830-7521E1D39105}" type="presOf" srcId="{0A47190D-D766-40BD-A7F4-9392A7F1B705}" destId="{8A09FF8E-6755-446B-8DD7-63B4016C3482}" srcOrd="0" destOrd="0" presId="urn:microsoft.com/office/officeart/2005/8/layout/radial4"/>
    <dgm:cxn modelId="{D946788C-87EA-437D-A4CA-1D7ABE57FE0C}" type="presOf" srcId="{03E00AD3-4EC6-4D1B-A579-396D28DE2ED3}" destId="{40A450D0-30CB-4623-BA30-73CF7186B7A4}" srcOrd="0" destOrd="0" presId="urn:microsoft.com/office/officeart/2005/8/layout/radial4"/>
    <dgm:cxn modelId="{E15864A3-510B-467E-8F1E-3764D40D8193}" srcId="{AB85FCAB-DD1F-4E91-BEB7-3EDE6210AA8E}" destId="{5A82ADCF-4ABF-4C4B-B8D6-5B1D6FDFC237}" srcOrd="0" destOrd="0" parTransId="{54A85E7C-B7EA-439E-9CE8-664F53443641}" sibTransId="{C1E42B03-0766-4DE1-BEB9-5273EF25A1DD}"/>
    <dgm:cxn modelId="{66D37AAC-1463-4E19-8F19-77B3751407F0}" type="presOf" srcId="{42982B5E-E614-44D5-868C-006DEF2EE4BA}" destId="{83DFAAF1-513A-462A-BF39-B153EE3630F9}" srcOrd="0" destOrd="0" presId="urn:microsoft.com/office/officeart/2005/8/layout/radial4"/>
    <dgm:cxn modelId="{CFF3EFC5-3D76-42B9-A4B7-B9FB53976FD6}" type="presOf" srcId="{AB85FCAB-DD1F-4E91-BEB7-3EDE6210AA8E}" destId="{E9E5286E-D2E7-45CB-99C6-D9912A3757A1}" srcOrd="0" destOrd="0" presId="urn:microsoft.com/office/officeart/2005/8/layout/radial4"/>
    <dgm:cxn modelId="{A3DAFCCE-3E03-4020-9670-A0C9A8E09905}" type="presOf" srcId="{54A85E7C-B7EA-439E-9CE8-664F53443641}" destId="{C7E8D3D1-ED19-437E-B140-B604EDCC228A}" srcOrd="0" destOrd="0" presId="urn:microsoft.com/office/officeart/2005/8/layout/radial4"/>
    <dgm:cxn modelId="{791B6F87-91CD-4862-ACA1-E5F63267EC1F}" type="presParOf" srcId="{8A09FF8E-6755-446B-8DD7-63B4016C3482}" destId="{E9E5286E-D2E7-45CB-99C6-D9912A3757A1}" srcOrd="0" destOrd="0" presId="urn:microsoft.com/office/officeart/2005/8/layout/radial4"/>
    <dgm:cxn modelId="{F96FEE8E-4500-4D88-896E-6044B5A3D0FC}" type="presParOf" srcId="{8A09FF8E-6755-446B-8DD7-63B4016C3482}" destId="{C7E8D3D1-ED19-437E-B140-B604EDCC228A}" srcOrd="1" destOrd="0" presId="urn:microsoft.com/office/officeart/2005/8/layout/radial4"/>
    <dgm:cxn modelId="{1007FF6A-5A98-4C49-A508-F459FF510DB3}" type="presParOf" srcId="{8A09FF8E-6755-446B-8DD7-63B4016C3482}" destId="{B67A9123-E4DB-447F-AFE1-A14DE195EB54}" srcOrd="2" destOrd="0" presId="urn:microsoft.com/office/officeart/2005/8/layout/radial4"/>
    <dgm:cxn modelId="{08AE3646-0D2E-4641-A483-48900E6D0462}" type="presParOf" srcId="{8A09FF8E-6755-446B-8DD7-63B4016C3482}" destId="{441781D8-ECE0-4568-A157-D557A0FCC2B7}" srcOrd="3" destOrd="0" presId="urn:microsoft.com/office/officeart/2005/8/layout/radial4"/>
    <dgm:cxn modelId="{FA213AA9-B30F-496F-BD20-EF650BA825B4}" type="presParOf" srcId="{8A09FF8E-6755-446B-8DD7-63B4016C3482}" destId="{83DFAAF1-513A-462A-BF39-B153EE3630F9}" srcOrd="4" destOrd="0" presId="urn:microsoft.com/office/officeart/2005/8/layout/radial4"/>
    <dgm:cxn modelId="{88F2B4D9-1ED8-42DD-80AA-0EAFEF7DDF57}" type="presParOf" srcId="{8A09FF8E-6755-446B-8DD7-63B4016C3482}" destId="{40A450D0-30CB-4623-BA30-73CF7186B7A4}" srcOrd="5" destOrd="0" presId="urn:microsoft.com/office/officeart/2005/8/layout/radial4"/>
    <dgm:cxn modelId="{FD298E6A-04F0-41A5-90CB-4A39AE6C980A}" type="presParOf" srcId="{8A09FF8E-6755-446B-8DD7-63B4016C3482}" destId="{02AE63DB-20F8-4457-88C6-3C53225C3BE3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CB029E-838A-4FA5-BD32-147AD121354F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8999D758-BAB4-47E8-B298-7EBE7782EC58}">
      <dgm:prSet phldrT="[텍스트]"/>
      <dgm:spPr>
        <a:solidFill>
          <a:schemeClr val="bg2">
            <a:lumMod val="25000"/>
          </a:schemeClr>
        </a:solidFill>
      </dgm:spPr>
      <dgm:t>
        <a:bodyPr/>
        <a:lstStyle/>
        <a:p>
          <a:pPr latinLnBrk="1"/>
          <a:r>
            <a:rPr lang="en-US" altLang="ko-KR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rPr>
            <a:t>SWOT</a:t>
          </a:r>
          <a:endParaRPr lang="ko-KR" altLang="en-US" dirty="0">
            <a:solidFill>
              <a:schemeClr val="bg1"/>
            </a:solidFill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0BECA710-2212-482A-BBCF-918986365B71}" type="parTrans" cxnId="{825E1F7C-5D00-46BE-B595-305F140A16B1}">
      <dgm:prSet/>
      <dgm:spPr/>
      <dgm:t>
        <a:bodyPr/>
        <a:lstStyle/>
        <a:p>
          <a:pPr latinLnBrk="1"/>
          <a:endParaRPr lang="ko-KR" altLang="en-US"/>
        </a:p>
      </dgm:t>
    </dgm:pt>
    <dgm:pt modelId="{8417BF92-CCC3-4AA5-AC93-ED3819089946}" type="sibTrans" cxnId="{825E1F7C-5D00-46BE-B595-305F140A16B1}">
      <dgm:prSet/>
      <dgm:spPr/>
      <dgm:t>
        <a:bodyPr/>
        <a:lstStyle/>
        <a:p>
          <a:pPr latinLnBrk="1"/>
          <a:endParaRPr lang="ko-KR" altLang="en-US"/>
        </a:p>
      </dgm:t>
    </dgm:pt>
    <dgm:pt modelId="{4E7576DA-A4C4-4194-91D5-6295A038CFAE}">
      <dgm:prSet phldrT="[텍스트]" custT="1"/>
      <dgm:spPr>
        <a:solidFill>
          <a:schemeClr val="bg2">
            <a:lumMod val="50000"/>
          </a:schemeClr>
        </a:solidFill>
      </dgm:spPr>
      <dgm:t>
        <a:bodyPr/>
        <a:lstStyle/>
        <a:p>
          <a:pPr algn="ctr" latinLnBrk="1">
            <a:buNone/>
          </a:pPr>
          <a:endParaRPr lang="en-US" altLang="ko-KR" sz="2000" dirty="0">
            <a:latin typeface="Viner Hand ITC" panose="03070502030502020203" pitchFamily="66" charset="0"/>
            <a:cs typeface="Aharoni" panose="02010803020104030203" pitchFamily="2" charset="-79"/>
          </a:endParaRPr>
        </a:p>
        <a:p>
          <a:pPr algn="ctr" latinLnBrk="1">
            <a:buNone/>
          </a:pPr>
          <a:r>
            <a:rPr lang="ko-KR" altLang="en-US" sz="2000" dirty="0">
              <a:latin typeface="Viner Hand ITC" panose="03070502030502020203" pitchFamily="66" charset="0"/>
              <a:cs typeface="Aharoni" panose="02010803020104030203" pitchFamily="2" charset="-79"/>
            </a:rPr>
            <a:t>강점</a:t>
          </a:r>
          <a:endParaRPr lang="en-US" altLang="ko-KR" sz="2000" dirty="0">
            <a:latin typeface="Viner Hand ITC" panose="03070502030502020203" pitchFamily="66" charset="0"/>
            <a:cs typeface="Aharoni" panose="02010803020104030203" pitchFamily="2" charset="-79"/>
          </a:endParaRPr>
        </a:p>
        <a:p>
          <a:pPr algn="l" latinLnBrk="1">
            <a:buFontTx/>
            <a:buNone/>
          </a:pPr>
          <a:r>
            <a:rPr lang="en-US" altLang="ko-KR" sz="1400" dirty="0">
              <a:latin typeface="나눔명조" panose="02020603020101020101" pitchFamily="18" charset="-127"/>
              <a:ea typeface="나눔명조" panose="02020603020101020101" pitchFamily="18" charset="-127"/>
              <a:cs typeface="Aharoni" panose="02010803020104030203" pitchFamily="2" charset="-79"/>
            </a:rPr>
            <a:t>* NoSQL</a:t>
          </a:r>
          <a:r>
            <a:rPr lang="ko-KR" altLang="en-US" sz="1400" dirty="0">
              <a:latin typeface="나눔명조" panose="02020603020101020101" pitchFamily="18" charset="-127"/>
              <a:ea typeface="나눔명조" panose="02020603020101020101" pitchFamily="18" charset="-127"/>
              <a:cs typeface="Aharoni" panose="02010803020104030203" pitchFamily="2" charset="-79"/>
            </a:rPr>
            <a:t>과 </a:t>
          </a:r>
          <a:r>
            <a:rPr lang="en-US" altLang="ko-KR" sz="1400" dirty="0">
              <a:latin typeface="나눔명조" panose="02020603020101020101" pitchFamily="18" charset="-127"/>
              <a:ea typeface="나눔명조" panose="02020603020101020101" pitchFamily="18" charset="-127"/>
              <a:cs typeface="Aharoni" panose="02010803020104030203" pitchFamily="2" charset="-79"/>
            </a:rPr>
            <a:t>AI</a:t>
          </a:r>
          <a:r>
            <a:rPr lang="ko-KR" altLang="en-US" sz="1400" dirty="0">
              <a:latin typeface="나눔명조" panose="02020603020101020101" pitchFamily="18" charset="-127"/>
              <a:ea typeface="나눔명조" panose="02020603020101020101" pitchFamily="18" charset="-127"/>
              <a:cs typeface="Aharoni" panose="02010803020104030203" pitchFamily="2" charset="-79"/>
            </a:rPr>
            <a:t>를 사용하여 확장성 향상</a:t>
          </a:r>
          <a:endParaRPr lang="en-US" altLang="ko-KR" sz="1400" dirty="0">
            <a:latin typeface="나눔명조" panose="02020603020101020101" pitchFamily="18" charset="-127"/>
            <a:ea typeface="나눔명조" panose="02020603020101020101" pitchFamily="18" charset="-127"/>
            <a:cs typeface="Aharoni" panose="02010803020104030203" pitchFamily="2" charset="-79"/>
          </a:endParaRPr>
        </a:p>
        <a:p>
          <a:pPr algn="l" latinLnBrk="1">
            <a:buFontTx/>
            <a:buNone/>
          </a:pPr>
          <a:r>
            <a:rPr lang="en-US" altLang="ko-KR" sz="1400" dirty="0">
              <a:latin typeface="나눔명조" panose="02020603020101020101" pitchFamily="18" charset="-127"/>
              <a:ea typeface="나눔명조" panose="02020603020101020101" pitchFamily="18" charset="-127"/>
              <a:cs typeface="Aharoni" panose="02010803020104030203" pitchFamily="2" charset="-79"/>
            </a:rPr>
            <a:t>* </a:t>
          </a:r>
          <a:r>
            <a:rPr lang="ko-KR" altLang="en-US" sz="1400" dirty="0">
              <a:latin typeface="나눔명조" panose="02020603020101020101" pitchFamily="18" charset="-127"/>
              <a:ea typeface="나눔명조" panose="02020603020101020101" pitchFamily="18" charset="-127"/>
              <a:cs typeface="Aharoni" panose="02010803020104030203" pitchFamily="2" charset="-79"/>
            </a:rPr>
            <a:t>실시간 위치 연동을 통해 사용자 파악이 쉬움</a:t>
          </a:r>
          <a:endParaRPr lang="en-US" altLang="ko-KR" sz="1400" dirty="0">
            <a:latin typeface="나눔명조" panose="02020603020101020101" pitchFamily="18" charset="-127"/>
            <a:ea typeface="나눔명조" panose="02020603020101020101" pitchFamily="18" charset="-127"/>
            <a:cs typeface="Aharoni" panose="02010803020104030203" pitchFamily="2" charset="-79"/>
          </a:endParaRPr>
        </a:p>
        <a:p>
          <a:pPr algn="l" latinLnBrk="1">
            <a:buFontTx/>
            <a:buNone/>
          </a:pPr>
          <a:r>
            <a:rPr lang="en-US" altLang="ko-KR" sz="1400" dirty="0">
              <a:latin typeface="나눔명조" panose="02020603020101020101" pitchFamily="18" charset="-127"/>
              <a:ea typeface="나눔명조" panose="02020603020101020101" pitchFamily="18" charset="-127"/>
              <a:cs typeface="Aharoni" panose="02010803020104030203" pitchFamily="2" charset="-79"/>
            </a:rPr>
            <a:t>* </a:t>
          </a:r>
          <a:r>
            <a:rPr lang="ko-KR" altLang="en-US" sz="1400" dirty="0">
              <a:latin typeface="나눔명조" panose="02020603020101020101" pitchFamily="18" charset="-127"/>
              <a:ea typeface="나눔명조" panose="02020603020101020101" pitchFamily="18" charset="-127"/>
              <a:cs typeface="Aharoni" panose="02010803020104030203" pitchFamily="2" charset="-79"/>
            </a:rPr>
            <a:t>사용자가 촬영한 사진으로 모든 과정을 처리해 편리함 및 악성 사이트로 연결 될 위협 배제</a:t>
          </a:r>
          <a:endParaRPr lang="en-US" altLang="ko-KR" sz="1400" dirty="0">
            <a:latin typeface="나눔명조" panose="02020603020101020101" pitchFamily="18" charset="-127"/>
            <a:ea typeface="나눔명조" panose="02020603020101020101" pitchFamily="18" charset="-127"/>
            <a:cs typeface="Aharoni" panose="02010803020104030203" pitchFamily="2" charset="-79"/>
          </a:endParaRPr>
        </a:p>
      </dgm:t>
    </dgm:pt>
    <dgm:pt modelId="{45D071ED-B9EE-4C4B-8904-D3E8B58220DA}" type="parTrans" cxnId="{E9EE6A53-F888-4EFB-BA71-C8D81B1CBB84}">
      <dgm:prSet/>
      <dgm:spPr/>
      <dgm:t>
        <a:bodyPr/>
        <a:lstStyle/>
        <a:p>
          <a:pPr latinLnBrk="1"/>
          <a:endParaRPr lang="ko-KR" altLang="en-US"/>
        </a:p>
      </dgm:t>
    </dgm:pt>
    <dgm:pt modelId="{FB2ED915-07A3-4BE5-AD39-64F59264547C}" type="sibTrans" cxnId="{E9EE6A53-F888-4EFB-BA71-C8D81B1CBB84}">
      <dgm:prSet/>
      <dgm:spPr/>
      <dgm:t>
        <a:bodyPr/>
        <a:lstStyle/>
        <a:p>
          <a:pPr latinLnBrk="1"/>
          <a:endParaRPr lang="ko-KR" altLang="en-US"/>
        </a:p>
      </dgm:t>
    </dgm:pt>
    <dgm:pt modelId="{09A9E294-C0A4-4923-869E-CD25FF2C9402}">
      <dgm:prSet phldrT="[텍스트]" custT="1"/>
      <dgm:spPr>
        <a:solidFill>
          <a:schemeClr val="bg2">
            <a:lumMod val="50000"/>
          </a:schemeClr>
        </a:solidFill>
      </dgm:spPr>
      <dgm:t>
        <a:bodyPr/>
        <a:lstStyle/>
        <a:p>
          <a:pPr algn="ctr" latinLnBrk="1"/>
          <a:endParaRPr lang="en-US" altLang="ko-KR" sz="20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algn="ctr" latinLnBrk="1"/>
          <a:r>
            <a:rPr lang="ko-KR" altLang="en-US" sz="2000" dirty="0">
              <a:latin typeface="나눔명조" panose="02020603020101020101" pitchFamily="18" charset="-127"/>
              <a:ea typeface="나눔명조" panose="02020603020101020101" pitchFamily="18" charset="-127"/>
            </a:rPr>
            <a:t>약점</a:t>
          </a:r>
          <a:endParaRPr lang="en-US" altLang="ko-KR" sz="20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algn="l" latinLnBrk="1"/>
          <a:r>
            <a:rPr lang="en-US" altLang="ko-KR" sz="1400" dirty="0">
              <a:latin typeface="나눔명조" panose="02020603020101020101" pitchFamily="18" charset="-127"/>
              <a:ea typeface="나눔명조" panose="02020603020101020101" pitchFamily="18" charset="-127"/>
            </a:rPr>
            <a:t>* </a:t>
          </a:r>
          <a:r>
            <a:rPr lang="ko-KR" altLang="en-US" sz="1400" dirty="0">
              <a:latin typeface="나눔명조" panose="02020603020101020101" pitchFamily="18" charset="-127"/>
              <a:ea typeface="나눔명조" panose="02020603020101020101" pitchFamily="18" charset="-127"/>
            </a:rPr>
            <a:t>기기 내부의 손상을 탐지하기 어려움</a:t>
          </a:r>
          <a:endParaRPr lang="en-US" altLang="ko-KR" sz="14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algn="l" latinLnBrk="1"/>
          <a:r>
            <a:rPr lang="en-US" altLang="ko-KR" sz="1400" dirty="0">
              <a:latin typeface="나눔명조" panose="02020603020101020101" pitchFamily="18" charset="-127"/>
              <a:ea typeface="나눔명조" panose="02020603020101020101" pitchFamily="18" charset="-127"/>
            </a:rPr>
            <a:t>* </a:t>
          </a:r>
          <a:r>
            <a:rPr lang="ko-KR" altLang="en-US" sz="1400" dirty="0">
              <a:latin typeface="나눔명조" panose="02020603020101020101" pitchFamily="18" charset="-127"/>
              <a:ea typeface="나눔명조" panose="02020603020101020101" pitchFamily="18" charset="-127"/>
            </a:rPr>
            <a:t>데이터셋에 크게 의존함</a:t>
          </a:r>
          <a:endParaRPr lang="en-US" altLang="ko-KR" sz="14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algn="l" rtl="0" latinLnBrk="1"/>
          <a:r>
            <a:rPr lang="en-US" altLang="ko-KR" sz="1400" dirty="0">
              <a:latin typeface="나눔명조"/>
              <a:ea typeface="나눔명조"/>
            </a:rPr>
            <a:t>* </a:t>
          </a:r>
          <a:r>
            <a:rPr lang="en-US" altLang="ko-KR" sz="1400" dirty="0" err="1">
              <a:latin typeface="나눔명조"/>
              <a:ea typeface="나눔명조"/>
            </a:rPr>
            <a:t>실시간</a:t>
          </a:r>
          <a:r>
            <a:rPr lang="en-US" altLang="ko-KR" sz="1400" dirty="0">
              <a:latin typeface="나눔명조"/>
              <a:ea typeface="나눔명조"/>
            </a:rPr>
            <a:t> </a:t>
          </a:r>
          <a:r>
            <a:rPr lang="ko-KR" altLang="en-US" sz="1400" dirty="0">
              <a:latin typeface="나눔명조"/>
              <a:ea typeface="나눔명조"/>
            </a:rPr>
            <a:t>위치 연동으로 인한 개인정보 보호 문제</a:t>
          </a:r>
          <a:endParaRPr lang="en-US" altLang="ko-KR" sz="1400" dirty="0">
            <a:latin typeface="나눔명조"/>
            <a:ea typeface="나눔명조"/>
          </a:endParaRPr>
        </a:p>
      </dgm:t>
    </dgm:pt>
    <dgm:pt modelId="{E2721D61-B7F0-4E50-A024-155B533CA912}" type="parTrans" cxnId="{B497C560-2613-4F2A-B253-54B668A61DB2}">
      <dgm:prSet/>
      <dgm:spPr/>
      <dgm:t>
        <a:bodyPr/>
        <a:lstStyle/>
        <a:p>
          <a:pPr latinLnBrk="1"/>
          <a:endParaRPr lang="ko-KR" altLang="en-US"/>
        </a:p>
      </dgm:t>
    </dgm:pt>
    <dgm:pt modelId="{D31030D6-108C-4510-BB09-045581EDDCAC}" type="sibTrans" cxnId="{B497C560-2613-4F2A-B253-54B668A61DB2}">
      <dgm:prSet/>
      <dgm:spPr/>
      <dgm:t>
        <a:bodyPr/>
        <a:lstStyle/>
        <a:p>
          <a:pPr latinLnBrk="1"/>
          <a:endParaRPr lang="ko-KR" altLang="en-US"/>
        </a:p>
      </dgm:t>
    </dgm:pt>
    <dgm:pt modelId="{0E16F94F-A679-4831-914B-99927978F118}">
      <dgm:prSet phldrT="[텍스트]" custT="1"/>
      <dgm:spPr>
        <a:solidFill>
          <a:schemeClr val="bg2">
            <a:lumMod val="50000"/>
          </a:schemeClr>
        </a:solidFill>
      </dgm:spPr>
      <dgm:t>
        <a:bodyPr/>
        <a:lstStyle/>
        <a:p>
          <a:pPr algn="ctr" latinLnBrk="1"/>
          <a:r>
            <a:rPr lang="ko-KR" altLang="en-US" sz="2000" dirty="0">
              <a:latin typeface="나눔명조" panose="02020603020101020101" pitchFamily="18" charset="-127"/>
              <a:ea typeface="나눔명조" panose="02020603020101020101" pitchFamily="18" charset="-127"/>
            </a:rPr>
            <a:t>기회</a:t>
          </a:r>
          <a:endParaRPr lang="en-US" altLang="ko-KR" sz="20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algn="l" rtl="0" latinLnBrk="1"/>
          <a:r>
            <a:rPr lang="en-US" altLang="ko-KR" sz="1400" dirty="0">
              <a:latin typeface="나눔명조"/>
              <a:ea typeface="나눔명조"/>
            </a:rPr>
            <a:t>* </a:t>
          </a:r>
          <a:r>
            <a:rPr lang="ko-KR" altLang="en-US" sz="1400" dirty="0">
              <a:latin typeface="나눔명조"/>
              <a:ea typeface="나눔명조"/>
            </a:rPr>
            <a:t>최신 </a:t>
          </a:r>
          <a:r>
            <a:rPr lang="en-US" altLang="ko-KR" sz="1400" dirty="0">
              <a:latin typeface="나눔명조"/>
              <a:ea typeface="나눔명조"/>
            </a:rPr>
            <a:t>AI</a:t>
          </a:r>
          <a:r>
            <a:rPr lang="ko-KR" altLang="en-US" sz="1400" dirty="0">
              <a:latin typeface="나눔명조"/>
              <a:ea typeface="나눔명조"/>
            </a:rPr>
            <a:t>모델로 간단히 교체하여 성능 향상 가능</a:t>
          </a:r>
          <a:endParaRPr lang="en-US" altLang="ko-KR" sz="14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algn="l" latinLnBrk="1"/>
          <a:r>
            <a:rPr lang="en-US" altLang="ko-KR" sz="1400" dirty="0">
              <a:latin typeface="나눔명조" panose="02020603020101020101" pitchFamily="18" charset="-127"/>
              <a:ea typeface="나눔명조" panose="02020603020101020101" pitchFamily="18" charset="-127"/>
            </a:rPr>
            <a:t>* </a:t>
          </a:r>
          <a:r>
            <a:rPr lang="ko-KR" altLang="en-US" sz="1400" dirty="0">
              <a:latin typeface="나눔명조" panose="02020603020101020101" pitchFamily="18" charset="-127"/>
              <a:ea typeface="나눔명조" panose="02020603020101020101" pitchFamily="18" charset="-127"/>
            </a:rPr>
            <a:t>거리 대비 비용 부여 등 부가 서비스 제공 가능 </a:t>
          </a:r>
          <a:endParaRPr lang="en-US" altLang="ko-KR" sz="14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algn="l" latinLnBrk="1"/>
          <a:r>
            <a:rPr lang="en-US" altLang="ko-KR" sz="1400" dirty="0">
              <a:latin typeface="나눔명조" panose="02020603020101020101" pitchFamily="18" charset="-127"/>
              <a:ea typeface="나눔명조" panose="02020603020101020101" pitchFamily="18" charset="-127"/>
            </a:rPr>
            <a:t>* </a:t>
          </a:r>
          <a:r>
            <a:rPr lang="ko-KR" altLang="en-US" sz="1400" dirty="0">
              <a:latin typeface="나눔명조" panose="02020603020101020101" pitchFamily="18" charset="-127"/>
              <a:ea typeface="나눔명조" panose="02020603020101020101" pitchFamily="18" charset="-127"/>
            </a:rPr>
            <a:t>손상 데이터 및 기기 데이터를 수집하여 지속적인 모델의 학습이 가능</a:t>
          </a:r>
          <a:endParaRPr lang="en-US" altLang="ko-KR" sz="14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algn="ctr" latinLnBrk="1"/>
          <a:endParaRPr lang="en-US" altLang="ko-KR" sz="14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algn="ctr" latinLnBrk="1"/>
          <a:endParaRPr lang="en-US" altLang="ko-KR" sz="1400" dirty="0">
            <a:latin typeface="나눔명조" panose="02020603020101020101" pitchFamily="18" charset="-127"/>
            <a:ea typeface="나눔명조" panose="02020603020101020101" pitchFamily="18" charset="-127"/>
          </a:endParaRPr>
        </a:p>
      </dgm:t>
    </dgm:pt>
    <dgm:pt modelId="{BF4E4B6C-EC4B-421B-A73B-BDDCBADE4029}" type="parTrans" cxnId="{F10B2512-C2B4-44CF-BC4C-F60D7461D4BE}">
      <dgm:prSet/>
      <dgm:spPr/>
      <dgm:t>
        <a:bodyPr/>
        <a:lstStyle/>
        <a:p>
          <a:pPr latinLnBrk="1"/>
          <a:endParaRPr lang="ko-KR" altLang="en-US"/>
        </a:p>
      </dgm:t>
    </dgm:pt>
    <dgm:pt modelId="{4D007DE9-BB7A-4ADF-B8E7-9BAB96A3EC53}" type="sibTrans" cxnId="{F10B2512-C2B4-44CF-BC4C-F60D7461D4BE}">
      <dgm:prSet/>
      <dgm:spPr/>
      <dgm:t>
        <a:bodyPr/>
        <a:lstStyle/>
        <a:p>
          <a:pPr latinLnBrk="1"/>
          <a:endParaRPr lang="ko-KR" altLang="en-US"/>
        </a:p>
      </dgm:t>
    </dgm:pt>
    <dgm:pt modelId="{DE607672-0383-49B6-9CF9-66C087684248}">
      <dgm:prSet phldrT="[텍스트]" custT="1"/>
      <dgm:spPr>
        <a:solidFill>
          <a:schemeClr val="bg2">
            <a:lumMod val="50000"/>
          </a:schemeClr>
        </a:solidFill>
      </dgm:spPr>
      <dgm:t>
        <a:bodyPr/>
        <a:lstStyle/>
        <a:p>
          <a:pPr algn="ctr" latinLnBrk="1"/>
          <a:r>
            <a:rPr lang="ko-KR" altLang="en-US" sz="2000" dirty="0">
              <a:latin typeface="나눔명조" panose="02020603020101020101" pitchFamily="18" charset="-127"/>
              <a:ea typeface="나눔명조" panose="02020603020101020101" pitchFamily="18" charset="-127"/>
            </a:rPr>
            <a:t>위협</a:t>
          </a:r>
          <a:endParaRPr lang="en-US" altLang="ko-KR" sz="20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algn="l" latinLnBrk="1"/>
          <a:r>
            <a:rPr lang="en-US" altLang="ko-KR" sz="1400" dirty="0">
              <a:latin typeface="나눔명조" panose="02020603020101020101" pitchFamily="18" charset="-127"/>
              <a:ea typeface="나눔명조" panose="02020603020101020101" pitchFamily="18" charset="-127"/>
            </a:rPr>
            <a:t>* </a:t>
          </a:r>
          <a:r>
            <a:rPr lang="ko-KR" altLang="en-US" sz="1400" dirty="0">
              <a:latin typeface="나눔명조" panose="02020603020101020101" pitchFamily="18" charset="-127"/>
              <a:ea typeface="나눔명조" panose="02020603020101020101" pitchFamily="18" charset="-127"/>
            </a:rPr>
            <a:t>비슷한 장비를 사용한 </a:t>
          </a:r>
          <a:r>
            <a:rPr lang="ko-KR" altLang="en-US" sz="1400" dirty="0" err="1">
              <a:latin typeface="나눔명조" panose="02020603020101020101" pitchFamily="18" charset="-127"/>
              <a:ea typeface="나눔명조" panose="02020603020101020101" pitchFamily="18" charset="-127"/>
            </a:rPr>
            <a:t>바꿔치기</a:t>
          </a:r>
          <a:r>
            <a:rPr lang="ko-KR" altLang="en-US" sz="1400" dirty="0">
              <a:latin typeface="나눔명조" panose="02020603020101020101" pitchFamily="18" charset="-127"/>
              <a:ea typeface="나눔명조" panose="02020603020101020101" pitchFamily="18" charset="-127"/>
            </a:rPr>
            <a:t> 가능성</a:t>
          </a:r>
          <a:endParaRPr lang="en-US" altLang="ko-KR" sz="14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algn="l" latinLnBrk="1"/>
          <a:r>
            <a:rPr lang="en-US" altLang="ko-KR" sz="1400" dirty="0">
              <a:latin typeface="나눔명조" panose="02020603020101020101" pitchFamily="18" charset="-127"/>
              <a:ea typeface="나눔명조" panose="02020603020101020101" pitchFamily="18" charset="-127"/>
            </a:rPr>
            <a:t>* AI </a:t>
          </a:r>
          <a:r>
            <a:rPr lang="ko-KR" altLang="en-US" sz="1400" dirty="0">
              <a:latin typeface="나눔명조" panose="02020603020101020101" pitchFamily="18" charset="-127"/>
              <a:ea typeface="나눔명조" panose="02020603020101020101" pitchFamily="18" charset="-127"/>
            </a:rPr>
            <a:t>서버의 성능으로 인한 정확도 </a:t>
          </a:r>
          <a:r>
            <a:rPr lang="en-US" altLang="ko-KR" sz="1400" dirty="0">
              <a:latin typeface="나눔명조" panose="02020603020101020101" pitchFamily="18" charset="-127"/>
              <a:ea typeface="나눔명조" panose="02020603020101020101" pitchFamily="18" charset="-127"/>
            </a:rPr>
            <a:t>/ </a:t>
          </a:r>
          <a:r>
            <a:rPr lang="ko-KR" altLang="en-US" sz="1400" dirty="0">
              <a:latin typeface="나눔명조" panose="02020603020101020101" pitchFamily="18" charset="-127"/>
              <a:ea typeface="나눔명조" panose="02020603020101020101" pitchFamily="18" charset="-127"/>
            </a:rPr>
            <a:t>신뢰성 문제</a:t>
          </a:r>
          <a:endParaRPr lang="en-US" altLang="ko-KR" sz="14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algn="l" latinLnBrk="1"/>
          <a:r>
            <a:rPr lang="en-US" altLang="ko-KR" sz="1400" dirty="0">
              <a:latin typeface="나눔명조"/>
              <a:ea typeface="나눔명조"/>
            </a:rPr>
            <a:t>* </a:t>
          </a:r>
          <a:r>
            <a:rPr lang="ko-KR" altLang="en-US" sz="1400" dirty="0">
              <a:latin typeface="나눔명조"/>
              <a:ea typeface="나눔명조"/>
            </a:rPr>
            <a:t>실시간 처리로 인해 </a:t>
          </a:r>
          <a:r>
            <a:rPr lang="en-US" altLang="ko-KR" sz="1400" dirty="0">
              <a:latin typeface="나눔명조"/>
              <a:ea typeface="나눔명조"/>
            </a:rPr>
            <a:t>GPU</a:t>
          </a:r>
          <a:r>
            <a:rPr lang="ko-KR" altLang="en-US" sz="1400" dirty="0">
              <a:latin typeface="나눔명조"/>
              <a:ea typeface="나눔명조"/>
            </a:rPr>
            <a:t>에 부담이 될 가능성</a:t>
          </a:r>
          <a:endParaRPr lang="en-US" altLang="ko-KR" sz="1400" dirty="0">
            <a:latin typeface="나눔명조"/>
            <a:ea typeface="나눔명조"/>
          </a:endParaRPr>
        </a:p>
        <a:p>
          <a:pPr algn="l" latinLnBrk="1"/>
          <a:endParaRPr lang="ko-KR" altLang="en-US" sz="1400" dirty="0">
            <a:latin typeface="나눔명조"/>
            <a:ea typeface="나눔명조"/>
          </a:endParaRPr>
        </a:p>
        <a:p>
          <a:pPr algn="l" latinLnBrk="1"/>
          <a:endParaRPr lang="ko-KR" altLang="en-US" sz="1400" dirty="0">
            <a:latin typeface="나눔명조"/>
            <a:ea typeface="나눔명조"/>
          </a:endParaRPr>
        </a:p>
      </dgm:t>
    </dgm:pt>
    <dgm:pt modelId="{3241E042-07FA-41D7-BDE1-31DB25304321}" type="parTrans" cxnId="{C901B687-0B5B-4A88-921D-0456738BECCE}">
      <dgm:prSet/>
      <dgm:spPr/>
      <dgm:t>
        <a:bodyPr/>
        <a:lstStyle/>
        <a:p>
          <a:pPr latinLnBrk="1"/>
          <a:endParaRPr lang="ko-KR" altLang="en-US"/>
        </a:p>
      </dgm:t>
    </dgm:pt>
    <dgm:pt modelId="{9E8A9100-FD86-4E0B-A3D6-72D4E0CE4E67}" type="sibTrans" cxnId="{C901B687-0B5B-4A88-921D-0456738BECCE}">
      <dgm:prSet/>
      <dgm:spPr/>
      <dgm:t>
        <a:bodyPr/>
        <a:lstStyle/>
        <a:p>
          <a:pPr latinLnBrk="1"/>
          <a:endParaRPr lang="ko-KR" altLang="en-US"/>
        </a:p>
      </dgm:t>
    </dgm:pt>
    <dgm:pt modelId="{2206BCDD-E63E-4B95-80DD-0A0B98321EAF}" type="pres">
      <dgm:prSet presAssocID="{C9CB029E-838A-4FA5-BD32-147AD121354F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4D35C3A-3CE4-4DAF-ABB7-D78038905B60}" type="pres">
      <dgm:prSet presAssocID="{C9CB029E-838A-4FA5-BD32-147AD121354F}" presName="matrix" presStyleCnt="0"/>
      <dgm:spPr/>
    </dgm:pt>
    <dgm:pt modelId="{3A1C9538-674A-4A46-9DB0-0D2EDD9A102F}" type="pres">
      <dgm:prSet presAssocID="{C9CB029E-838A-4FA5-BD32-147AD121354F}" presName="tile1" presStyleLbl="node1" presStyleIdx="0" presStyleCnt="4" custLinFactNeighborY="0"/>
      <dgm:spPr>
        <a:prstGeom prst="rect">
          <a:avLst/>
        </a:prstGeom>
      </dgm:spPr>
    </dgm:pt>
    <dgm:pt modelId="{0CF8DA39-A903-4451-96C6-6AA976A62DB0}" type="pres">
      <dgm:prSet presAssocID="{C9CB029E-838A-4FA5-BD32-147AD121354F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12CEADD-302B-49C2-9F44-AC172E544F8E}" type="pres">
      <dgm:prSet presAssocID="{C9CB029E-838A-4FA5-BD32-147AD121354F}" presName="tile2" presStyleLbl="node1" presStyleIdx="1" presStyleCnt="4"/>
      <dgm:spPr>
        <a:prstGeom prst="flowChartProcess">
          <a:avLst/>
        </a:prstGeom>
      </dgm:spPr>
    </dgm:pt>
    <dgm:pt modelId="{AD4E4400-7894-4872-9713-128FA8779B68}" type="pres">
      <dgm:prSet presAssocID="{C9CB029E-838A-4FA5-BD32-147AD121354F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8F45B8F-BEBC-4E9C-876E-6710745F93F3}" type="pres">
      <dgm:prSet presAssocID="{C9CB029E-838A-4FA5-BD32-147AD121354F}" presName="tile3" presStyleLbl="node1" presStyleIdx="2" presStyleCnt="4"/>
      <dgm:spPr>
        <a:prstGeom prst="rect">
          <a:avLst/>
        </a:prstGeom>
      </dgm:spPr>
    </dgm:pt>
    <dgm:pt modelId="{792E0883-BAA6-409E-8417-204B40A836B2}" type="pres">
      <dgm:prSet presAssocID="{C9CB029E-838A-4FA5-BD32-147AD121354F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EC4C829-ABC8-4A38-A419-912E063995FB}" type="pres">
      <dgm:prSet presAssocID="{C9CB029E-838A-4FA5-BD32-147AD121354F}" presName="tile4" presStyleLbl="node1" presStyleIdx="3" presStyleCnt="4" custLinFactNeighborX="0" custLinFactNeighborY="-448"/>
      <dgm:spPr>
        <a:prstGeom prst="rect">
          <a:avLst/>
        </a:prstGeom>
      </dgm:spPr>
    </dgm:pt>
    <dgm:pt modelId="{A6956DBA-012B-4A13-A826-630A4D6628BD}" type="pres">
      <dgm:prSet presAssocID="{C9CB029E-838A-4FA5-BD32-147AD121354F}" presName="tile4text" presStyleLbl="node1" presStyleIdx="3" presStyleCnt="4">
        <dgm:presLayoutVars>
          <dgm:chMax val="0"/>
          <dgm:chPref val="0"/>
          <dgm:bulletEnabled val="1"/>
        </dgm:presLayoutVars>
      </dgm:prSet>
      <dgm:spPr>
        <a:prstGeom prst="rect">
          <a:avLst/>
        </a:prstGeom>
      </dgm:spPr>
    </dgm:pt>
    <dgm:pt modelId="{86560E98-36B5-448E-B5CF-6111DDA34D1A}" type="pres">
      <dgm:prSet presAssocID="{C9CB029E-838A-4FA5-BD32-147AD121354F}" presName="centerTile" presStyleLbl="fgShp" presStyleIdx="0" presStyleCnt="1">
        <dgm:presLayoutVars>
          <dgm:chMax val="0"/>
          <dgm:chPref val="0"/>
        </dgm:presLayoutVars>
      </dgm:prSet>
      <dgm:spPr>
        <a:prstGeom prst="flowChartDecision">
          <a:avLst/>
        </a:prstGeom>
      </dgm:spPr>
    </dgm:pt>
  </dgm:ptLst>
  <dgm:cxnLst>
    <dgm:cxn modelId="{F10B2512-C2B4-44CF-BC4C-F60D7461D4BE}" srcId="{8999D758-BAB4-47E8-B298-7EBE7782EC58}" destId="{0E16F94F-A679-4831-914B-99927978F118}" srcOrd="2" destOrd="0" parTransId="{BF4E4B6C-EC4B-421B-A73B-BDDCBADE4029}" sibTransId="{4D007DE9-BB7A-4ADF-B8E7-9BAB96A3EC53}"/>
    <dgm:cxn modelId="{F069F52C-B17E-47E1-954F-AB4661A26177}" type="presOf" srcId="{09A9E294-C0A4-4923-869E-CD25FF2C9402}" destId="{512CEADD-302B-49C2-9F44-AC172E544F8E}" srcOrd="0" destOrd="0" presId="urn:microsoft.com/office/officeart/2005/8/layout/matrix1"/>
    <dgm:cxn modelId="{0BA99C30-6C56-45D4-8EDC-2330AD499BDF}" type="presOf" srcId="{09A9E294-C0A4-4923-869E-CD25FF2C9402}" destId="{AD4E4400-7894-4872-9713-128FA8779B68}" srcOrd="1" destOrd="0" presId="urn:microsoft.com/office/officeart/2005/8/layout/matrix1"/>
    <dgm:cxn modelId="{B497C560-2613-4F2A-B253-54B668A61DB2}" srcId="{8999D758-BAB4-47E8-B298-7EBE7782EC58}" destId="{09A9E294-C0A4-4923-869E-CD25FF2C9402}" srcOrd="1" destOrd="0" parTransId="{E2721D61-B7F0-4E50-A024-155B533CA912}" sibTransId="{D31030D6-108C-4510-BB09-045581EDDCAC}"/>
    <dgm:cxn modelId="{E9EE6A53-F888-4EFB-BA71-C8D81B1CBB84}" srcId="{8999D758-BAB4-47E8-B298-7EBE7782EC58}" destId="{4E7576DA-A4C4-4194-91D5-6295A038CFAE}" srcOrd="0" destOrd="0" parTransId="{45D071ED-B9EE-4C4B-8904-D3E8B58220DA}" sibTransId="{FB2ED915-07A3-4BE5-AD39-64F59264547C}"/>
    <dgm:cxn modelId="{825E1F7C-5D00-46BE-B595-305F140A16B1}" srcId="{C9CB029E-838A-4FA5-BD32-147AD121354F}" destId="{8999D758-BAB4-47E8-B298-7EBE7782EC58}" srcOrd="0" destOrd="0" parTransId="{0BECA710-2212-482A-BBCF-918986365B71}" sibTransId="{8417BF92-CCC3-4AA5-AC93-ED3819089946}"/>
    <dgm:cxn modelId="{3241677E-5022-4D29-B2AA-37F82FC81F36}" type="presOf" srcId="{4E7576DA-A4C4-4194-91D5-6295A038CFAE}" destId="{3A1C9538-674A-4A46-9DB0-0D2EDD9A102F}" srcOrd="0" destOrd="0" presId="urn:microsoft.com/office/officeart/2005/8/layout/matrix1"/>
    <dgm:cxn modelId="{C901B687-0B5B-4A88-921D-0456738BECCE}" srcId="{8999D758-BAB4-47E8-B298-7EBE7782EC58}" destId="{DE607672-0383-49B6-9CF9-66C087684248}" srcOrd="3" destOrd="0" parTransId="{3241E042-07FA-41D7-BDE1-31DB25304321}" sibTransId="{9E8A9100-FD86-4E0B-A3D6-72D4E0CE4E67}"/>
    <dgm:cxn modelId="{F8AA6488-6B5E-4B0A-BF09-A27D579B5690}" type="presOf" srcId="{DE607672-0383-49B6-9CF9-66C087684248}" destId="{6EC4C829-ABC8-4A38-A419-912E063995FB}" srcOrd="0" destOrd="0" presId="urn:microsoft.com/office/officeart/2005/8/layout/matrix1"/>
    <dgm:cxn modelId="{A9CE608C-CA58-4F71-BEDF-6A0CC6FB6CB8}" type="presOf" srcId="{0E16F94F-A679-4831-914B-99927978F118}" destId="{A8F45B8F-BEBC-4E9C-876E-6710745F93F3}" srcOrd="0" destOrd="0" presId="urn:microsoft.com/office/officeart/2005/8/layout/matrix1"/>
    <dgm:cxn modelId="{B2136098-66EE-48A9-8767-14A44C5EEBDF}" type="presOf" srcId="{DE607672-0383-49B6-9CF9-66C087684248}" destId="{A6956DBA-012B-4A13-A826-630A4D6628BD}" srcOrd="1" destOrd="0" presId="urn:microsoft.com/office/officeart/2005/8/layout/matrix1"/>
    <dgm:cxn modelId="{E13FA7B4-4475-4A1C-98B0-E96D5C619F28}" type="presOf" srcId="{0E16F94F-A679-4831-914B-99927978F118}" destId="{792E0883-BAA6-409E-8417-204B40A836B2}" srcOrd="1" destOrd="0" presId="urn:microsoft.com/office/officeart/2005/8/layout/matrix1"/>
    <dgm:cxn modelId="{AE3FB8B4-FCF4-4726-B20B-AB90EB769CE2}" type="presOf" srcId="{8999D758-BAB4-47E8-B298-7EBE7782EC58}" destId="{86560E98-36B5-448E-B5CF-6111DDA34D1A}" srcOrd="0" destOrd="0" presId="urn:microsoft.com/office/officeart/2005/8/layout/matrix1"/>
    <dgm:cxn modelId="{8F9E25BA-4853-46DE-928F-3F8F3A5F4FE5}" type="presOf" srcId="{4E7576DA-A4C4-4194-91D5-6295A038CFAE}" destId="{0CF8DA39-A903-4451-96C6-6AA976A62DB0}" srcOrd="1" destOrd="0" presId="urn:microsoft.com/office/officeart/2005/8/layout/matrix1"/>
    <dgm:cxn modelId="{83AA3DFE-0181-4D9A-93A5-42BB6447A1E8}" type="presOf" srcId="{C9CB029E-838A-4FA5-BD32-147AD121354F}" destId="{2206BCDD-E63E-4B95-80DD-0A0B98321EAF}" srcOrd="0" destOrd="0" presId="urn:microsoft.com/office/officeart/2005/8/layout/matrix1"/>
    <dgm:cxn modelId="{DF07C71A-E508-4DF3-8C13-4CC5763C0D60}" type="presParOf" srcId="{2206BCDD-E63E-4B95-80DD-0A0B98321EAF}" destId="{64D35C3A-3CE4-4DAF-ABB7-D78038905B60}" srcOrd="0" destOrd="0" presId="urn:microsoft.com/office/officeart/2005/8/layout/matrix1"/>
    <dgm:cxn modelId="{84E6E956-8AD2-40AE-87D1-BEEBA7B588F8}" type="presParOf" srcId="{64D35C3A-3CE4-4DAF-ABB7-D78038905B60}" destId="{3A1C9538-674A-4A46-9DB0-0D2EDD9A102F}" srcOrd="0" destOrd="0" presId="urn:microsoft.com/office/officeart/2005/8/layout/matrix1"/>
    <dgm:cxn modelId="{648F935D-7DCC-425F-A362-20BFCDED277F}" type="presParOf" srcId="{64D35C3A-3CE4-4DAF-ABB7-D78038905B60}" destId="{0CF8DA39-A903-4451-96C6-6AA976A62DB0}" srcOrd="1" destOrd="0" presId="urn:microsoft.com/office/officeart/2005/8/layout/matrix1"/>
    <dgm:cxn modelId="{860BC47E-4AA6-42A7-8DBB-296BCFFF959B}" type="presParOf" srcId="{64D35C3A-3CE4-4DAF-ABB7-D78038905B60}" destId="{512CEADD-302B-49C2-9F44-AC172E544F8E}" srcOrd="2" destOrd="0" presId="urn:microsoft.com/office/officeart/2005/8/layout/matrix1"/>
    <dgm:cxn modelId="{0F2FCAB5-F3AC-44DB-92C7-68D4F348357E}" type="presParOf" srcId="{64D35C3A-3CE4-4DAF-ABB7-D78038905B60}" destId="{AD4E4400-7894-4872-9713-128FA8779B68}" srcOrd="3" destOrd="0" presId="urn:microsoft.com/office/officeart/2005/8/layout/matrix1"/>
    <dgm:cxn modelId="{A9ACA288-0188-47B7-84A2-D6A55C1142FD}" type="presParOf" srcId="{64D35C3A-3CE4-4DAF-ABB7-D78038905B60}" destId="{A8F45B8F-BEBC-4E9C-876E-6710745F93F3}" srcOrd="4" destOrd="0" presId="urn:microsoft.com/office/officeart/2005/8/layout/matrix1"/>
    <dgm:cxn modelId="{C0C323FF-C71B-4A5E-8012-9648D8498A5B}" type="presParOf" srcId="{64D35C3A-3CE4-4DAF-ABB7-D78038905B60}" destId="{792E0883-BAA6-409E-8417-204B40A836B2}" srcOrd="5" destOrd="0" presId="urn:microsoft.com/office/officeart/2005/8/layout/matrix1"/>
    <dgm:cxn modelId="{46BAB20A-77E4-41DC-B1E8-CE5DF1E380EC}" type="presParOf" srcId="{64D35C3A-3CE4-4DAF-ABB7-D78038905B60}" destId="{6EC4C829-ABC8-4A38-A419-912E063995FB}" srcOrd="6" destOrd="0" presId="urn:microsoft.com/office/officeart/2005/8/layout/matrix1"/>
    <dgm:cxn modelId="{BB979FE9-E2B6-4B8A-AB7A-217AD35CF9D0}" type="presParOf" srcId="{64D35C3A-3CE4-4DAF-ABB7-D78038905B60}" destId="{A6956DBA-012B-4A13-A826-630A4D6628BD}" srcOrd="7" destOrd="0" presId="urn:microsoft.com/office/officeart/2005/8/layout/matrix1"/>
    <dgm:cxn modelId="{CD02FFBA-1A1E-475C-AB8C-5E31B9C6BDBC}" type="presParOf" srcId="{2206BCDD-E63E-4B95-80DD-0A0B98321EAF}" destId="{86560E98-36B5-448E-B5CF-6111DDA34D1A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5286E-D2E7-45CB-99C6-D9912A3757A1}">
      <dsp:nvSpPr>
        <dsp:cNvPr id="0" name=""/>
        <dsp:cNvSpPr/>
      </dsp:nvSpPr>
      <dsp:spPr>
        <a:xfrm>
          <a:off x="3900700" y="2577818"/>
          <a:ext cx="2161839" cy="2161839"/>
        </a:xfrm>
        <a:prstGeom prst="ellipse">
          <a:avLst/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ko-KR" sz="6500" u="sng" kern="1200" dirty="0">
            <a:latin typeface="궁서" panose="02030600000101010101" pitchFamily="18" charset="-127"/>
            <a:ea typeface="궁서" panose="02030600000101010101" pitchFamily="18" charset="-127"/>
          </a:endParaRPr>
        </a:p>
      </dsp:txBody>
      <dsp:txXfrm>
        <a:off x="4217294" y="2894412"/>
        <a:ext cx="1528651" cy="1528651"/>
      </dsp:txXfrm>
    </dsp:sp>
    <dsp:sp modelId="{C7E8D3D1-ED19-437E-B140-B604EDCC228A}">
      <dsp:nvSpPr>
        <dsp:cNvPr id="0" name=""/>
        <dsp:cNvSpPr/>
      </dsp:nvSpPr>
      <dsp:spPr>
        <a:xfrm rot="12157716">
          <a:off x="1191732" y="2344102"/>
          <a:ext cx="2750292" cy="616124"/>
        </a:xfrm>
        <a:prstGeom prst="leftArrow">
          <a:avLst>
            <a:gd name="adj1" fmla="val 60000"/>
            <a:gd name="adj2" fmla="val 50000"/>
          </a:avLst>
        </a:prstGeom>
        <a:pattFill prst="dkVert">
          <a:fgClr>
            <a:schemeClr val="bg2">
              <a:lumMod val="50000"/>
            </a:schemeClr>
          </a:fgClr>
          <a:bgClr>
            <a:schemeClr val="bg1"/>
          </a:bgClr>
        </a:patt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7A9123-E4DB-447F-AFE1-A14DE195EB54}">
      <dsp:nvSpPr>
        <dsp:cNvPr id="0" name=""/>
        <dsp:cNvSpPr/>
      </dsp:nvSpPr>
      <dsp:spPr>
        <a:xfrm>
          <a:off x="63117" y="1301569"/>
          <a:ext cx="2468953" cy="1642998"/>
        </a:xfrm>
        <a:prstGeom prst="roundRect">
          <a:avLst>
            <a:gd name="adj" fmla="val 10000"/>
          </a:avLst>
        </a:prstGeom>
        <a:solidFill>
          <a:schemeClr val="bg2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2. </a:t>
          </a:r>
          <a:r>
            <a:rPr lang="ko-KR" altLang="en-US" sz="18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확실한 대여 및 반납 시스템</a:t>
          </a:r>
          <a:endParaRPr lang="en-US" altLang="ko-KR" sz="1800" kern="12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/>
            <a:t>영상 처리 </a:t>
          </a:r>
          <a:r>
            <a:rPr lang="en-US" altLang="ko-KR" sz="1200" kern="1200" dirty="0"/>
            <a:t>/ GPS / </a:t>
          </a:r>
          <a:r>
            <a:rPr lang="ko-KR" altLang="en-US" sz="1200" kern="1200" dirty="0"/>
            <a:t>생체 인식을</a:t>
          </a:r>
          <a:endParaRPr lang="en-US" altLang="ko-KR" sz="1200" kern="1200" dirty="0"/>
        </a:p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/>
            <a:t>통한 전 과정의 자동화</a:t>
          </a:r>
        </a:p>
      </dsp:txBody>
      <dsp:txXfrm>
        <a:off x="111239" y="1349691"/>
        <a:ext cx="2372709" cy="1546754"/>
      </dsp:txXfrm>
    </dsp:sp>
    <dsp:sp modelId="{441781D8-ECE0-4568-A157-D557A0FCC2B7}">
      <dsp:nvSpPr>
        <dsp:cNvPr id="0" name=""/>
        <dsp:cNvSpPr/>
      </dsp:nvSpPr>
      <dsp:spPr>
        <a:xfrm rot="16200000">
          <a:off x="4151799" y="1343342"/>
          <a:ext cx="1659643" cy="616124"/>
        </a:xfrm>
        <a:prstGeom prst="leftArrow">
          <a:avLst>
            <a:gd name="adj1" fmla="val 60000"/>
            <a:gd name="adj2" fmla="val 50000"/>
          </a:avLst>
        </a:prstGeom>
        <a:pattFill prst="wdDnDiag">
          <a:fgClr>
            <a:schemeClr val="bg2">
              <a:lumMod val="25000"/>
            </a:schemeClr>
          </a:fgClr>
          <a:bgClr>
            <a:schemeClr val="bg1"/>
          </a:bgClr>
        </a:patt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DFAAF1-513A-462A-BF39-B153EE3630F9}">
      <dsp:nvSpPr>
        <dsp:cNvPr id="0" name=""/>
        <dsp:cNvSpPr/>
      </dsp:nvSpPr>
      <dsp:spPr>
        <a:xfrm>
          <a:off x="3640071" y="83"/>
          <a:ext cx="2683097" cy="1642998"/>
        </a:xfrm>
        <a:prstGeom prst="roundRect">
          <a:avLst>
            <a:gd name="adj" fmla="val 10000"/>
          </a:avLst>
        </a:prstGeom>
        <a:solidFill>
          <a:schemeClr val="bg2">
            <a:lumMod val="2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1. </a:t>
          </a:r>
          <a:r>
            <a:rPr lang="ko-KR" altLang="en-US" sz="22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접근성 향상</a:t>
          </a:r>
          <a:endParaRPr lang="en-US" altLang="ko-KR" sz="2200" kern="12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>
              <a:latin typeface="+mn-lt"/>
              <a:ea typeface="나눔명조" panose="02020603020101020101" pitchFamily="18" charset="-127"/>
            </a:rPr>
            <a:t>모바일 서비스를 통한 접근성 향상</a:t>
          </a:r>
          <a:endParaRPr lang="en-US" altLang="ko-KR" sz="1200" kern="1200" dirty="0">
            <a:latin typeface="+mn-lt"/>
            <a:ea typeface="나눔명조" panose="02020603020101020101" pitchFamily="18" charset="-127"/>
          </a:endParaRPr>
        </a:p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>
              <a:latin typeface="+mn-lt"/>
              <a:ea typeface="나눔명조" panose="02020603020101020101" pitchFamily="18" charset="-127"/>
            </a:rPr>
            <a:t>및 </a:t>
          </a:r>
          <a:r>
            <a:rPr lang="en-US" altLang="ko-KR" sz="1200" kern="1200" dirty="0">
              <a:latin typeface="+mn-lt"/>
              <a:ea typeface="나눔명조" panose="02020603020101020101" pitchFamily="18" charset="-127"/>
            </a:rPr>
            <a:t>24</a:t>
          </a:r>
          <a:r>
            <a:rPr lang="ko-KR" altLang="en-US" sz="1200" kern="1200" dirty="0">
              <a:latin typeface="+mn-lt"/>
              <a:ea typeface="나눔명조" panose="02020603020101020101" pitchFamily="18" charset="-127"/>
            </a:rPr>
            <a:t>시간 무인 대여 서비스 </a:t>
          </a:r>
          <a:endParaRPr lang="en-US" altLang="ko-KR" sz="1200" kern="1200" dirty="0">
            <a:latin typeface="+mn-lt"/>
            <a:ea typeface="나눔명조" panose="02020603020101020101" pitchFamily="18" charset="-127"/>
          </a:endParaRPr>
        </a:p>
      </dsp:txBody>
      <dsp:txXfrm>
        <a:off x="3688193" y="48205"/>
        <a:ext cx="2586853" cy="1546754"/>
      </dsp:txXfrm>
    </dsp:sp>
    <dsp:sp modelId="{40A450D0-30CB-4623-BA30-73CF7186B7A4}">
      <dsp:nvSpPr>
        <dsp:cNvPr id="0" name=""/>
        <dsp:cNvSpPr/>
      </dsp:nvSpPr>
      <dsp:spPr>
        <a:xfrm rot="20262893">
          <a:off x="6028116" y="2346927"/>
          <a:ext cx="2805418" cy="616124"/>
        </a:xfrm>
        <a:prstGeom prst="leftArrow">
          <a:avLst>
            <a:gd name="adj1" fmla="val 60000"/>
            <a:gd name="adj2" fmla="val 50000"/>
          </a:avLst>
        </a:prstGeom>
        <a:pattFill prst="wdDnDiag">
          <a:fgClr>
            <a:schemeClr val="bg2">
              <a:lumMod val="50000"/>
            </a:schemeClr>
          </a:fgClr>
          <a:bgClr>
            <a:schemeClr val="bg1"/>
          </a:bgClr>
        </a:patt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AE63DB-20F8-4457-88C6-3C53225C3BE3}">
      <dsp:nvSpPr>
        <dsp:cNvPr id="0" name=""/>
        <dsp:cNvSpPr/>
      </dsp:nvSpPr>
      <dsp:spPr>
        <a:xfrm>
          <a:off x="7483105" y="1301561"/>
          <a:ext cx="2491318" cy="1642998"/>
        </a:xfrm>
        <a:prstGeom prst="roundRect">
          <a:avLst>
            <a:gd name="adj" fmla="val 10000"/>
          </a:avLst>
        </a:prstGeom>
        <a:solidFill>
          <a:schemeClr val="bg2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>
              <a:latin typeface="나눔명조"/>
              <a:ea typeface="나눔명조"/>
            </a:rPr>
            <a:t>3. </a:t>
          </a:r>
          <a:r>
            <a:rPr lang="ko-KR" altLang="en-US" sz="2000" kern="1200" dirty="0">
              <a:latin typeface="나눔명조"/>
              <a:ea typeface="나눔명조"/>
            </a:rPr>
            <a:t>품질 관리기능</a:t>
          </a:r>
          <a:endParaRPr lang="en-US" altLang="ko-KR" sz="2000" kern="12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/>
            <a:t>AI</a:t>
          </a:r>
          <a:r>
            <a:rPr lang="ko-KR" altLang="en-US" sz="1200" kern="1200" dirty="0"/>
            <a:t>를 이용한 손상 탐지 및</a:t>
          </a:r>
          <a:endParaRPr lang="en-US" altLang="ko-KR" sz="1200" kern="1200" dirty="0"/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/>
            <a:t>사용 패턴 분석과 </a:t>
          </a:r>
          <a:endParaRPr lang="en-US" altLang="ko-KR" sz="1200" kern="1200" dirty="0"/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/>
            <a:t>이전 사용 리포트 제공 </a:t>
          </a:r>
          <a:endParaRPr lang="ko-KR" altLang="en-US" sz="1800" kern="1200" dirty="0">
            <a:latin typeface="맑은 고딕" panose="02110004020202020204"/>
            <a:ea typeface="맑은 고딕" panose="02110004020202020204"/>
          </a:endParaRPr>
        </a:p>
      </dsp:txBody>
      <dsp:txXfrm>
        <a:off x="7531227" y="1349683"/>
        <a:ext cx="2395074" cy="15467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1C9538-674A-4A46-9DB0-0D2EDD9A102F}">
      <dsp:nvSpPr>
        <dsp:cNvPr id="0" name=""/>
        <dsp:cNvSpPr/>
      </dsp:nvSpPr>
      <dsp:spPr>
        <a:xfrm rot="16200000">
          <a:off x="872343" y="-872343"/>
          <a:ext cx="2307834" cy="4052520"/>
        </a:xfrm>
        <a:prstGeom prst="rect">
          <a:avLst/>
        </a:prstGeom>
        <a:solidFill>
          <a:schemeClr val="bg2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ko-KR" sz="2000" kern="1200" dirty="0">
            <a:latin typeface="Viner Hand ITC" panose="03070502030502020203" pitchFamily="66" charset="0"/>
            <a:cs typeface="Aharoni" panose="02010803020104030203" pitchFamily="2" charset="-79"/>
          </a:endParaRPr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>
              <a:latin typeface="Viner Hand ITC" panose="03070502030502020203" pitchFamily="66" charset="0"/>
              <a:cs typeface="Aharoni" panose="02010803020104030203" pitchFamily="2" charset="-79"/>
            </a:rPr>
            <a:t>강점</a:t>
          </a:r>
          <a:endParaRPr lang="en-US" altLang="ko-KR" sz="2000" kern="1200" dirty="0">
            <a:latin typeface="Viner Hand ITC" panose="03070502030502020203" pitchFamily="66" charset="0"/>
            <a:cs typeface="Aharoni" panose="02010803020104030203" pitchFamily="2" charset="-79"/>
          </a:endParaRPr>
        </a:p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altLang="ko-KR" sz="1400" kern="1200" dirty="0">
              <a:latin typeface="나눔명조" panose="02020603020101020101" pitchFamily="18" charset="-127"/>
              <a:ea typeface="나눔명조" panose="02020603020101020101" pitchFamily="18" charset="-127"/>
              <a:cs typeface="Aharoni" panose="02010803020104030203" pitchFamily="2" charset="-79"/>
            </a:rPr>
            <a:t>* NoSQL</a:t>
          </a:r>
          <a:r>
            <a:rPr lang="ko-KR" altLang="en-US" sz="1400" kern="1200" dirty="0">
              <a:latin typeface="나눔명조" panose="02020603020101020101" pitchFamily="18" charset="-127"/>
              <a:ea typeface="나눔명조" panose="02020603020101020101" pitchFamily="18" charset="-127"/>
              <a:cs typeface="Aharoni" panose="02010803020104030203" pitchFamily="2" charset="-79"/>
            </a:rPr>
            <a:t>과 </a:t>
          </a:r>
          <a:r>
            <a:rPr lang="en-US" altLang="ko-KR" sz="1400" kern="1200" dirty="0">
              <a:latin typeface="나눔명조" panose="02020603020101020101" pitchFamily="18" charset="-127"/>
              <a:ea typeface="나눔명조" panose="02020603020101020101" pitchFamily="18" charset="-127"/>
              <a:cs typeface="Aharoni" panose="02010803020104030203" pitchFamily="2" charset="-79"/>
            </a:rPr>
            <a:t>AI</a:t>
          </a:r>
          <a:r>
            <a:rPr lang="ko-KR" altLang="en-US" sz="1400" kern="1200" dirty="0">
              <a:latin typeface="나눔명조" panose="02020603020101020101" pitchFamily="18" charset="-127"/>
              <a:ea typeface="나눔명조" panose="02020603020101020101" pitchFamily="18" charset="-127"/>
              <a:cs typeface="Aharoni" panose="02010803020104030203" pitchFamily="2" charset="-79"/>
            </a:rPr>
            <a:t>를 사용하여 확장성 향상</a:t>
          </a:r>
          <a:endParaRPr lang="en-US" altLang="ko-KR" sz="1400" kern="1200" dirty="0">
            <a:latin typeface="나눔명조" panose="02020603020101020101" pitchFamily="18" charset="-127"/>
            <a:ea typeface="나눔명조" panose="02020603020101020101" pitchFamily="18" charset="-127"/>
            <a:cs typeface="Aharoni" panose="02010803020104030203" pitchFamily="2" charset="-79"/>
          </a:endParaRPr>
        </a:p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altLang="ko-KR" sz="1400" kern="1200" dirty="0">
              <a:latin typeface="나눔명조" panose="02020603020101020101" pitchFamily="18" charset="-127"/>
              <a:ea typeface="나눔명조" panose="02020603020101020101" pitchFamily="18" charset="-127"/>
              <a:cs typeface="Aharoni" panose="02010803020104030203" pitchFamily="2" charset="-79"/>
            </a:rPr>
            <a:t>* </a:t>
          </a:r>
          <a:r>
            <a:rPr lang="ko-KR" altLang="en-US" sz="1400" kern="1200" dirty="0">
              <a:latin typeface="나눔명조" panose="02020603020101020101" pitchFamily="18" charset="-127"/>
              <a:ea typeface="나눔명조" panose="02020603020101020101" pitchFamily="18" charset="-127"/>
              <a:cs typeface="Aharoni" panose="02010803020104030203" pitchFamily="2" charset="-79"/>
            </a:rPr>
            <a:t>실시간 위치 연동을 통해 사용자 파악이 쉬움</a:t>
          </a:r>
          <a:endParaRPr lang="en-US" altLang="ko-KR" sz="1400" kern="1200" dirty="0">
            <a:latin typeface="나눔명조" panose="02020603020101020101" pitchFamily="18" charset="-127"/>
            <a:ea typeface="나눔명조" panose="02020603020101020101" pitchFamily="18" charset="-127"/>
            <a:cs typeface="Aharoni" panose="02010803020104030203" pitchFamily="2" charset="-79"/>
          </a:endParaRPr>
        </a:p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altLang="ko-KR" sz="1400" kern="1200" dirty="0">
              <a:latin typeface="나눔명조" panose="02020603020101020101" pitchFamily="18" charset="-127"/>
              <a:ea typeface="나눔명조" panose="02020603020101020101" pitchFamily="18" charset="-127"/>
              <a:cs typeface="Aharoni" panose="02010803020104030203" pitchFamily="2" charset="-79"/>
            </a:rPr>
            <a:t>* </a:t>
          </a:r>
          <a:r>
            <a:rPr lang="ko-KR" altLang="en-US" sz="1400" kern="1200" dirty="0">
              <a:latin typeface="나눔명조" panose="02020603020101020101" pitchFamily="18" charset="-127"/>
              <a:ea typeface="나눔명조" panose="02020603020101020101" pitchFamily="18" charset="-127"/>
              <a:cs typeface="Aharoni" panose="02010803020104030203" pitchFamily="2" charset="-79"/>
            </a:rPr>
            <a:t>사용자가 촬영한 사진으로 모든 과정을 처리해 편리함 및 악성 사이트로 연결 될 위협 배제</a:t>
          </a:r>
          <a:endParaRPr lang="en-US" altLang="ko-KR" sz="1400" kern="1200" dirty="0">
            <a:latin typeface="나눔명조" panose="02020603020101020101" pitchFamily="18" charset="-127"/>
            <a:ea typeface="나눔명조" panose="02020603020101020101" pitchFamily="18" charset="-127"/>
            <a:cs typeface="Aharoni" panose="02010803020104030203" pitchFamily="2" charset="-79"/>
          </a:endParaRPr>
        </a:p>
      </dsp:txBody>
      <dsp:txXfrm rot="5400000">
        <a:off x="0" y="0"/>
        <a:ext cx="4052520" cy="1730875"/>
      </dsp:txXfrm>
    </dsp:sp>
    <dsp:sp modelId="{512CEADD-302B-49C2-9F44-AC172E544F8E}">
      <dsp:nvSpPr>
        <dsp:cNvPr id="0" name=""/>
        <dsp:cNvSpPr/>
      </dsp:nvSpPr>
      <dsp:spPr>
        <a:xfrm>
          <a:off x="4052520" y="0"/>
          <a:ext cx="4052520" cy="2307834"/>
        </a:xfrm>
        <a:prstGeom prst="flowChartProcess">
          <a:avLst/>
        </a:prstGeom>
        <a:solidFill>
          <a:schemeClr val="bg2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ko-KR" sz="2000" kern="12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약점</a:t>
          </a:r>
          <a:endParaRPr lang="en-US" altLang="ko-KR" sz="2000" kern="12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* </a:t>
          </a:r>
          <a:r>
            <a:rPr lang="ko-KR" altLang="en-US" sz="14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기기 내부의 손상을 탐지하기 어려움</a:t>
          </a:r>
          <a:endParaRPr lang="en-US" altLang="ko-KR" sz="1400" kern="12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* </a:t>
          </a:r>
          <a:r>
            <a:rPr lang="ko-KR" altLang="en-US" sz="14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데이터셋에 크게 의존함</a:t>
          </a:r>
          <a:endParaRPr lang="en-US" altLang="ko-KR" sz="1400" kern="12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marL="0" lvl="0" indent="0" algn="l" defTabSz="8890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나눔명조"/>
              <a:ea typeface="나눔명조"/>
            </a:rPr>
            <a:t>* </a:t>
          </a:r>
          <a:r>
            <a:rPr lang="en-US" altLang="ko-KR" sz="1400" kern="1200" dirty="0" err="1">
              <a:latin typeface="나눔명조"/>
              <a:ea typeface="나눔명조"/>
            </a:rPr>
            <a:t>실시간</a:t>
          </a:r>
          <a:r>
            <a:rPr lang="en-US" altLang="ko-KR" sz="1400" kern="1200" dirty="0">
              <a:latin typeface="나눔명조"/>
              <a:ea typeface="나눔명조"/>
            </a:rPr>
            <a:t> </a:t>
          </a:r>
          <a:r>
            <a:rPr lang="ko-KR" altLang="en-US" sz="1400" kern="1200" dirty="0">
              <a:latin typeface="나눔명조"/>
              <a:ea typeface="나눔명조"/>
            </a:rPr>
            <a:t>위치 연동으로 인한 개인정보 보호 문제</a:t>
          </a:r>
          <a:endParaRPr lang="en-US" altLang="ko-KR" sz="1400" kern="1200" dirty="0">
            <a:latin typeface="나눔명조"/>
            <a:ea typeface="나눔명조"/>
          </a:endParaRPr>
        </a:p>
      </dsp:txBody>
      <dsp:txXfrm>
        <a:off x="4052520" y="0"/>
        <a:ext cx="4052520" cy="1730875"/>
      </dsp:txXfrm>
    </dsp:sp>
    <dsp:sp modelId="{A8F45B8F-BEBC-4E9C-876E-6710745F93F3}">
      <dsp:nvSpPr>
        <dsp:cNvPr id="0" name=""/>
        <dsp:cNvSpPr/>
      </dsp:nvSpPr>
      <dsp:spPr>
        <a:xfrm rot="10800000">
          <a:off x="0" y="2307834"/>
          <a:ext cx="4052520" cy="2307834"/>
        </a:xfrm>
        <a:prstGeom prst="rect">
          <a:avLst/>
        </a:prstGeom>
        <a:solidFill>
          <a:schemeClr val="bg2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기회</a:t>
          </a:r>
          <a:endParaRPr lang="en-US" altLang="ko-KR" sz="2000" kern="12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marL="0" lvl="0" indent="0" algn="l" defTabSz="8890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나눔명조"/>
              <a:ea typeface="나눔명조"/>
            </a:rPr>
            <a:t>* </a:t>
          </a:r>
          <a:r>
            <a:rPr lang="ko-KR" altLang="en-US" sz="1400" kern="1200" dirty="0">
              <a:latin typeface="나눔명조"/>
              <a:ea typeface="나눔명조"/>
            </a:rPr>
            <a:t>최신 </a:t>
          </a:r>
          <a:r>
            <a:rPr lang="en-US" altLang="ko-KR" sz="1400" kern="1200" dirty="0">
              <a:latin typeface="나눔명조"/>
              <a:ea typeface="나눔명조"/>
            </a:rPr>
            <a:t>AI</a:t>
          </a:r>
          <a:r>
            <a:rPr lang="ko-KR" altLang="en-US" sz="1400" kern="1200" dirty="0">
              <a:latin typeface="나눔명조"/>
              <a:ea typeface="나눔명조"/>
            </a:rPr>
            <a:t>모델로 간단히 교체하여 성능 향상 가능</a:t>
          </a:r>
          <a:endParaRPr lang="en-US" altLang="ko-KR" sz="1400" kern="12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* </a:t>
          </a:r>
          <a:r>
            <a:rPr lang="ko-KR" altLang="en-US" sz="14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거리 대비 비용 부여 등 부가 서비스 제공 가능 </a:t>
          </a:r>
          <a:endParaRPr lang="en-US" altLang="ko-KR" sz="1400" kern="12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* </a:t>
          </a:r>
          <a:r>
            <a:rPr lang="ko-KR" altLang="en-US" sz="14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손상 데이터 및 기기 데이터를 수집하여 지속적인 모델의 학습이 가능</a:t>
          </a:r>
          <a:endParaRPr lang="en-US" altLang="ko-KR" sz="1400" kern="12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ko-KR" sz="1400" kern="12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ko-KR" sz="1400" kern="1200" dirty="0">
            <a:latin typeface="나눔명조" panose="02020603020101020101" pitchFamily="18" charset="-127"/>
            <a:ea typeface="나눔명조" panose="02020603020101020101" pitchFamily="18" charset="-127"/>
          </a:endParaRPr>
        </a:p>
      </dsp:txBody>
      <dsp:txXfrm rot="10800000">
        <a:off x="0" y="2884793"/>
        <a:ext cx="4052520" cy="1730875"/>
      </dsp:txXfrm>
    </dsp:sp>
    <dsp:sp modelId="{6EC4C829-ABC8-4A38-A419-912E063995FB}">
      <dsp:nvSpPr>
        <dsp:cNvPr id="0" name=""/>
        <dsp:cNvSpPr/>
      </dsp:nvSpPr>
      <dsp:spPr>
        <a:xfrm rot="5400000">
          <a:off x="4924863" y="1425152"/>
          <a:ext cx="2307834" cy="4052520"/>
        </a:xfrm>
        <a:prstGeom prst="rect">
          <a:avLst/>
        </a:prstGeom>
        <a:solidFill>
          <a:schemeClr val="bg2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위협</a:t>
          </a:r>
          <a:endParaRPr lang="en-US" altLang="ko-KR" sz="2000" kern="12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* </a:t>
          </a:r>
          <a:r>
            <a:rPr lang="ko-KR" altLang="en-US" sz="14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비슷한 장비를 사용한 </a:t>
          </a:r>
          <a:r>
            <a:rPr lang="ko-KR" altLang="en-US" sz="1400" kern="1200" dirty="0" err="1">
              <a:latin typeface="나눔명조" panose="02020603020101020101" pitchFamily="18" charset="-127"/>
              <a:ea typeface="나눔명조" panose="02020603020101020101" pitchFamily="18" charset="-127"/>
            </a:rPr>
            <a:t>바꿔치기</a:t>
          </a:r>
          <a:r>
            <a:rPr lang="ko-KR" altLang="en-US" sz="14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 가능성</a:t>
          </a:r>
          <a:endParaRPr lang="en-US" altLang="ko-KR" sz="1400" kern="12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* AI </a:t>
          </a:r>
          <a:r>
            <a:rPr lang="ko-KR" altLang="en-US" sz="14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서버의 성능으로 인한 정확도 </a:t>
          </a:r>
          <a:r>
            <a:rPr lang="en-US" altLang="ko-KR" sz="14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/ </a:t>
          </a:r>
          <a:r>
            <a:rPr lang="ko-KR" altLang="en-US" sz="1400" kern="1200" dirty="0">
              <a:latin typeface="나눔명조" panose="02020603020101020101" pitchFamily="18" charset="-127"/>
              <a:ea typeface="나눔명조" panose="02020603020101020101" pitchFamily="18" charset="-127"/>
            </a:rPr>
            <a:t>신뢰성 문제</a:t>
          </a:r>
          <a:endParaRPr lang="en-US" altLang="ko-KR" sz="1400" kern="1200" dirty="0">
            <a:latin typeface="나눔명조" panose="02020603020101020101" pitchFamily="18" charset="-127"/>
            <a:ea typeface="나눔명조" panose="02020603020101020101" pitchFamily="18" charset="-127"/>
          </a:endParaRPr>
        </a:p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나눔명조"/>
              <a:ea typeface="나눔명조"/>
            </a:rPr>
            <a:t>* </a:t>
          </a:r>
          <a:r>
            <a:rPr lang="ko-KR" altLang="en-US" sz="1400" kern="1200" dirty="0">
              <a:latin typeface="나눔명조"/>
              <a:ea typeface="나눔명조"/>
            </a:rPr>
            <a:t>실시간 처리로 인해 </a:t>
          </a:r>
          <a:r>
            <a:rPr lang="en-US" altLang="ko-KR" sz="1400" kern="1200" dirty="0">
              <a:latin typeface="나눔명조"/>
              <a:ea typeface="나눔명조"/>
            </a:rPr>
            <a:t>GPU</a:t>
          </a:r>
          <a:r>
            <a:rPr lang="ko-KR" altLang="en-US" sz="1400" kern="1200" dirty="0">
              <a:latin typeface="나눔명조"/>
              <a:ea typeface="나눔명조"/>
            </a:rPr>
            <a:t>에 부담이 될 가능성</a:t>
          </a:r>
          <a:endParaRPr lang="en-US" altLang="ko-KR" sz="1400" kern="1200" dirty="0">
            <a:latin typeface="나눔명조"/>
            <a:ea typeface="나눔명조"/>
          </a:endParaRPr>
        </a:p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 dirty="0">
            <a:latin typeface="나눔명조"/>
            <a:ea typeface="나눔명조"/>
          </a:endParaRPr>
        </a:p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 dirty="0">
            <a:latin typeface="나눔명조"/>
            <a:ea typeface="나눔명조"/>
          </a:endParaRPr>
        </a:p>
      </dsp:txBody>
      <dsp:txXfrm rot="-5400000">
        <a:off x="4052520" y="2874453"/>
        <a:ext cx="4052520" cy="1730875"/>
      </dsp:txXfrm>
    </dsp:sp>
    <dsp:sp modelId="{86560E98-36B5-448E-B5CF-6111DDA34D1A}">
      <dsp:nvSpPr>
        <dsp:cNvPr id="0" name=""/>
        <dsp:cNvSpPr/>
      </dsp:nvSpPr>
      <dsp:spPr>
        <a:xfrm>
          <a:off x="2836764" y="1730875"/>
          <a:ext cx="2431512" cy="1153917"/>
        </a:xfrm>
        <a:prstGeom prst="flowChartDecision">
          <a:avLst/>
        </a:prstGeom>
        <a:solidFill>
          <a:schemeClr val="bg2">
            <a:lumMod val="2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300" kern="12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rPr>
            <a:t>SWOT</a:t>
          </a:r>
          <a:endParaRPr lang="ko-KR" altLang="en-US" sz="2300" kern="1200" dirty="0">
            <a:solidFill>
              <a:schemeClr val="bg1"/>
            </a:solidFill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sp:txBody>
      <dsp:txXfrm>
        <a:off x="3444642" y="2019354"/>
        <a:ext cx="1215756" cy="5769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ko-KR" sz="4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슬라이드를 이동하려면 클릭하십시오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메모 서식을 편집하려면 클릭하십시오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&lt;머리글&gt;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&lt;날짜/시간&gt;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fld id="{CB6C3762-CA1B-456A-AF66-19D2CB38A43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&lt;숫자&gt;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82250B-3369-450F-A09A-4167CAB9FC1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빈 화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B71D92-9B7F-4064-821E-C34426FF877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개요 텍스트의 서식을 편집하려면 클릭하십시오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2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3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4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콘텐츠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두 번째 수준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세 번째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네 번째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다섯 번째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0D0046-C3C4-42C0-A026-FB31C14E18A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개요 텍스트의 서식을 편집하려면 클릭하십시오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2</a:t>
            </a: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3</a:t>
            </a: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4</a:t>
            </a: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5</a:t>
            </a: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6</a:t>
            </a: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7</a:t>
            </a: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34DFEE8-96C1-4F2F-B311-E259321AB59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제목 슬라이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6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508028-E2B7-4A55-98DE-9CCFC169A405}" type="slidenum"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개요 텍스트의 서식을 편집하려면 클릭하십시오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2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3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4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제목 및 세로 텍스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두 번째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세 번째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네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다섯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168231-1C5D-40BE-BFC2-E1465B48C87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세로 제목 및 텍스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두 번째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세 번째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네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다섯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D8D02C-C44C-4C1F-9B07-511F3EB460E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제목 및 내용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두 번째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세 번째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네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다섯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8EFB50-4AC1-4D3E-9F8F-8AD703799586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구역 머리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6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ko-K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BA4654-7ADC-4B40-9A2C-A11A3E4D89D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콘텐츠 2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두 번째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세 번째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네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다섯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두 번째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세 번째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네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다섯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9031CF-262A-4A69-B297-36D9A49C6DA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비교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ko-KR" sz="24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두 번째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세 번째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네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다섯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ko-KR" sz="24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두 번째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세 번째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네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다섯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A46340-095B-477B-B336-F240D5D4D409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제목만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3394C8-F16D-4AB9-930D-C6A33D0A8C5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image" Target="../media/image2.png"/><Relationship Id="rId10" Type="http://schemas.openxmlformats.org/officeDocument/2006/relationships/image" Target="../media/image3.svg"/><Relationship Id="rId11" Type="http://schemas.openxmlformats.org/officeDocument/2006/relationships/image" Target="../media/image4.png"/><Relationship Id="rId12" Type="http://schemas.openxmlformats.org/officeDocument/2006/relationships/image" Target="../media/image5.svg"/><Relationship Id="rId1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image" Target="../media/image27.png"/><Relationship Id="rId3" Type="http://schemas.openxmlformats.org/officeDocument/2006/relationships/image" Target="../media/image16.png"/><Relationship Id="rId4" Type="http://schemas.openxmlformats.org/officeDocument/2006/relationships/image" Target="../media/image28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image" Target="../media/image20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28.png"/><Relationship Id="rId3" Type="http://schemas.openxmlformats.org/officeDocument/2006/relationships/image" Target="../media/image41.png"/><Relationship Id="rId4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video" Target="../media/media42.mp4"/><Relationship Id="rId2" Type="http://schemas.microsoft.com/office/2007/relationships/media" Target="../media/media42.mp4"/><Relationship Id="rId3" Type="http://schemas.openxmlformats.org/officeDocument/2006/relationships/image" Target="../media/image43.png"/><Relationship Id="rId4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7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-180000" y="831240"/>
            <a:ext cx="8884080" cy="16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60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G마켓 산스 TTF Bold"/>
                <a:ea typeface="G마켓 산스 TTF Bold"/>
              </a:rPr>
              <a:t>스</a:t>
            </a:r>
            <a:r>
              <a:rPr lang="ko-KR" sz="6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마켓 산스 TTF Bold"/>
                <a:ea typeface="G마켓 산스 TTF Bold"/>
              </a:rPr>
              <a:t>마트 장비 관리 플랫폼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-481680" y="2595600"/>
            <a:ext cx="571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나눔고딕 ExtraBold"/>
                <a:ea typeface="나눔고딕 Light"/>
              </a:rPr>
              <a:t>: 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나눔고딕 ExtraBold"/>
                <a:ea typeface="나눔고딕 Light"/>
              </a:rPr>
              <a:t>신뢰성 있고 정확하며 보다 안전한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" name="직사각형 12"/>
          <p:cNvSpPr/>
          <p:nvPr/>
        </p:nvSpPr>
        <p:spPr>
          <a:xfrm>
            <a:off x="0" y="6519600"/>
            <a:ext cx="1219140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cxnSp>
        <p:nvCxnSpPr>
          <p:cNvPr id="71" name="직선 연결선 6"/>
          <p:cNvCxnSpPr/>
          <p:nvPr/>
        </p:nvCxnSpPr>
        <p:spPr>
          <a:xfrm>
            <a:off x="-2880" y="2504520"/>
            <a:ext cx="622656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pic>
        <p:nvPicPr>
          <p:cNvPr id="72" name="그림 15" descr="블랙, 어둠이(가) 표시된 사진&#10;&#10;AI 생성 콘텐츠는 정확하지 않을 수 있습니다."/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6298200" y="746640"/>
            <a:ext cx="6073200" cy="611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부제목 2"/>
          <p:cNvSpPr/>
          <p:nvPr/>
        </p:nvSpPr>
        <p:spPr>
          <a:xfrm>
            <a:off x="147600" y="5709240"/>
            <a:ext cx="57128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G마켓 산스 TTF Medium"/>
                <a:ea typeface="G마켓 산스 TTF Medium"/>
              </a:rPr>
              <a:t>국립 군산대학교 컴퓨터 정보공학과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G마켓 산스 TTF Medium"/>
                <a:ea typeface="G마켓 산스 TTF Medium"/>
              </a:rPr>
              <a:t>4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G마켓 산스 TTF Medium"/>
                <a:ea typeface="G마켓 산스 TTF Medium"/>
              </a:rPr>
              <a:t>학년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G마켓 산스 TTF Bold"/>
                <a:ea typeface="G마켓 산스 TTF Bold"/>
              </a:rPr>
              <a:t>2200358 </a:t>
            </a:r>
            <a:r>
              <a:rPr lang="ko-KR" sz="1400" b="0" u="none" strike="noStrike">
                <a:solidFill>
                  <a:schemeClr val="dk1"/>
                </a:solidFill>
                <a:effectLst/>
                <a:uFillTx/>
                <a:latin typeface="G마켓 산스 TTF Bold"/>
                <a:ea typeface="G마켓 산스 TTF Bold"/>
              </a:rPr>
              <a:t>이효림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7"/>
          <p:cNvSpPr/>
          <p:nvPr/>
        </p:nvSpPr>
        <p:spPr>
          <a:xfrm>
            <a:off x="5487840" y="168840"/>
            <a:ext cx="121536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목차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cxnSp>
        <p:nvCxnSpPr>
          <p:cNvPr id="75" name="직선 연결선 8"/>
          <p:cNvCxnSpPr/>
          <p:nvPr/>
        </p:nvCxnSpPr>
        <p:spPr>
          <a:xfrm>
            <a:off x="680400" y="933120"/>
            <a:ext cx="1083168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grpSp>
        <p:nvGrpSpPr>
          <p:cNvPr id="76" name="그룹 17"/>
          <p:cNvGrpSpPr/>
          <p:nvPr/>
        </p:nvGrpSpPr>
        <p:grpSpPr>
          <a:xfrm>
            <a:off x="1111320" y="1749240"/>
            <a:ext cx="3478320" cy="2430000"/>
            <a:chOff x="1111320" y="1749240"/>
            <a:chExt cx="3478320" cy="2430000"/>
          </a:xfrm>
        </p:grpSpPr>
        <p:sp>
          <p:nvSpPr>
            <p:cNvPr id="77" name="TextBox 50"/>
            <p:cNvSpPr/>
            <p:nvPr/>
          </p:nvSpPr>
          <p:spPr>
            <a:xfrm>
              <a:off x="1821600" y="2527200"/>
              <a:ext cx="27680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e4e4e4"/>
                  </a:solidFill>
                  <a:effectLst/>
                  <a:uFillTx/>
                  <a:latin typeface="Vladimir Script"/>
                </a:rPr>
                <a:t>Why was it Developed?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78" name="TextBox 14"/>
            <p:cNvSpPr/>
            <p:nvPr/>
          </p:nvSpPr>
          <p:spPr>
            <a:xfrm>
              <a:off x="2067480" y="1749240"/>
              <a:ext cx="4528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highlight>
                    <a:srgbClr val="c0c0c0"/>
                  </a:highlight>
                  <a:uFillTx/>
                  <a:latin typeface="휴먼둥근헤드라인"/>
                  <a:ea typeface="휴먼둥근헤드라인"/>
                </a:rPr>
                <a:t>01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pic>
          <p:nvPicPr>
            <p:cNvPr id="79" name="그래픽 18" descr="별 3개 평점 단색으로 채워진"/>
            <p:cNvPicPr/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/>
          </p:blipFill>
          <p:spPr>
            <a:xfrm>
              <a:off x="2057760" y="1933920"/>
              <a:ext cx="657720" cy="534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0" name="TextBox 22"/>
            <p:cNvSpPr/>
            <p:nvPr/>
          </p:nvSpPr>
          <p:spPr>
            <a:xfrm>
              <a:off x="1590840" y="2423160"/>
              <a:ext cx="1403640" cy="36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accent4"/>
                  </a:solidFill>
                  <a:effectLst/>
                  <a:uFillTx/>
                  <a:latin typeface="나눔명조"/>
                  <a:ea typeface="나눔명조"/>
                </a:rPr>
                <a:t>서</a:t>
              </a:r>
              <a:r>
                <a:rPr lang="ko-KR" sz="1800" b="1" u="none" strike="noStrike">
                  <a:solidFill>
                    <a:schemeClr val="dk1"/>
                  </a:solidFill>
                  <a:effectLst/>
                  <a:uFillTx/>
                  <a:latin typeface="나눔명조"/>
                  <a:ea typeface="나눔명조"/>
                </a:rPr>
                <a:t>비스 개요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pic>
          <p:nvPicPr>
            <p:cNvPr id="81" name="그래픽 32" descr="추가 단색으로 채워진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>
            <a:xfrm>
              <a:off x="2217960" y="2954520"/>
              <a:ext cx="336960" cy="273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2" name="TextBox 35"/>
            <p:cNvSpPr/>
            <p:nvPr/>
          </p:nvSpPr>
          <p:spPr>
            <a:xfrm>
              <a:off x="1111320" y="3448800"/>
              <a:ext cx="2134800" cy="73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나눔고딕"/>
                  <a:ea typeface="나눔고딕"/>
                </a:rPr>
                <a:t>1. 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나눔고딕"/>
                  <a:ea typeface="나눔고딕"/>
                </a:rPr>
                <a:t>개발 배경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나눔고딕"/>
                  <a:ea typeface="나눔고딕"/>
                </a:rPr>
                <a:t>2. 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나눔고딕"/>
                  <a:ea typeface="나눔고딕"/>
                </a:rPr>
                <a:t>개선되어야 할 문제점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나눔고딕"/>
                  <a:ea typeface="나눔고딕"/>
                </a:rPr>
                <a:t>3. 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나눔고딕"/>
                  <a:ea typeface="나눔고딕"/>
                </a:rPr>
                <a:t>해결 방안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</p:grpSp>
      <p:sp>
        <p:nvSpPr>
          <p:cNvPr id="83" name="직사각형 49"/>
          <p:cNvSpPr/>
          <p:nvPr/>
        </p:nvSpPr>
        <p:spPr>
          <a:xfrm>
            <a:off x="0" y="6519600"/>
            <a:ext cx="1219140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grpSp>
        <p:nvGrpSpPr>
          <p:cNvPr id="84" name="그룹 20"/>
          <p:cNvGrpSpPr/>
          <p:nvPr/>
        </p:nvGrpSpPr>
        <p:grpSpPr>
          <a:xfrm>
            <a:off x="4831200" y="1747800"/>
            <a:ext cx="3191040" cy="2216520"/>
            <a:chOff x="4831200" y="1747800"/>
            <a:chExt cx="3191040" cy="2216520"/>
          </a:xfrm>
        </p:grpSpPr>
        <p:sp>
          <p:nvSpPr>
            <p:cNvPr id="85" name="TextBox 2"/>
            <p:cNvSpPr/>
            <p:nvPr/>
          </p:nvSpPr>
          <p:spPr>
            <a:xfrm>
              <a:off x="5391360" y="2525760"/>
              <a:ext cx="26308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e4e4e4"/>
                  </a:solidFill>
                  <a:effectLst/>
                  <a:uFillTx/>
                  <a:latin typeface="Vladimir Script"/>
                </a:rPr>
                <a:t>Skills &amp; Qualifications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86" name="TextBox 3"/>
            <p:cNvSpPr/>
            <p:nvPr/>
          </p:nvSpPr>
          <p:spPr>
            <a:xfrm>
              <a:off x="5606640" y="1747800"/>
              <a:ext cx="4528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highlight>
                    <a:srgbClr val="c0c0c0"/>
                  </a:highlight>
                  <a:uFillTx/>
                  <a:latin typeface="휴먼둥근헤드라인"/>
                  <a:ea typeface="휴먼둥근헤드라인"/>
                </a:rPr>
                <a:t>02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pic>
          <p:nvPicPr>
            <p:cNvPr id="87" name="그래픽 4" descr="별 3개 평점 단색으로 채워진"/>
            <p:cNvPicPr/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/>
          </p:blipFill>
          <p:spPr>
            <a:xfrm>
              <a:off x="5598000" y="1932480"/>
              <a:ext cx="576720" cy="534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8" name="TextBox 5"/>
            <p:cNvSpPr/>
            <p:nvPr/>
          </p:nvSpPr>
          <p:spPr>
            <a:xfrm>
              <a:off x="5272920" y="2421720"/>
              <a:ext cx="1175040" cy="36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rgbClr val="c00000"/>
                  </a:solidFill>
                  <a:effectLst/>
                  <a:uFillTx/>
                  <a:latin typeface="나눔명조"/>
                  <a:ea typeface="나눔명조"/>
                </a:rPr>
                <a:t>사</a:t>
              </a:r>
              <a:r>
                <a:rPr lang="ko-KR" sz="1800" b="1" u="none" strike="noStrike">
                  <a:solidFill>
                    <a:schemeClr val="dk1"/>
                  </a:solidFill>
                  <a:effectLst/>
                  <a:uFillTx/>
                  <a:latin typeface="나눔명조"/>
                  <a:ea typeface="나눔명조"/>
                </a:rPr>
                <a:t>용 기술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pic>
          <p:nvPicPr>
            <p:cNvPr id="89" name="그래픽 6" descr="추가 단색으로 채워진"/>
            <p:cNvPicPr/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/>
          </p:blipFill>
          <p:spPr>
            <a:xfrm>
              <a:off x="5738760" y="2953080"/>
              <a:ext cx="295560" cy="273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0" name="TextBox 9"/>
            <p:cNvSpPr/>
            <p:nvPr/>
          </p:nvSpPr>
          <p:spPr>
            <a:xfrm>
              <a:off x="4831200" y="3447360"/>
              <a:ext cx="2016000" cy="51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나눔고딕"/>
                  <a:ea typeface="나눔고딕"/>
                </a:rPr>
                <a:t>4. 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나눔고딕"/>
                  <a:ea typeface="나눔고딕"/>
                </a:rPr>
                <a:t>사용 기술 요약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나눔고딕"/>
                  <a:ea typeface="나눔고딕"/>
                </a:rPr>
                <a:t>5. 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나눔고딕"/>
                  <a:ea typeface="나눔고딕"/>
                </a:rPr>
                <a:t>각 요소의 작동 원리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</p:grpSp>
      <p:grpSp>
        <p:nvGrpSpPr>
          <p:cNvPr id="91" name="그룹 21"/>
          <p:cNvGrpSpPr/>
          <p:nvPr/>
        </p:nvGrpSpPr>
        <p:grpSpPr>
          <a:xfrm>
            <a:off x="8471880" y="1749240"/>
            <a:ext cx="3291120" cy="2460240"/>
            <a:chOff x="8471880" y="1749240"/>
            <a:chExt cx="3291120" cy="2460240"/>
          </a:xfrm>
        </p:grpSpPr>
        <p:sp>
          <p:nvSpPr>
            <p:cNvPr id="92" name="TextBox 10"/>
            <p:cNvSpPr/>
            <p:nvPr/>
          </p:nvSpPr>
          <p:spPr>
            <a:xfrm>
              <a:off x="8920080" y="2525760"/>
              <a:ext cx="2842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e4e4e4"/>
                  </a:solidFill>
                  <a:effectLst/>
                  <a:uFillTx/>
                  <a:latin typeface="Vladimir Script"/>
                </a:rPr>
                <a:t>UseCase And Scalavility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93" name="TextBox 11"/>
            <p:cNvSpPr/>
            <p:nvPr/>
          </p:nvSpPr>
          <p:spPr>
            <a:xfrm>
              <a:off x="9249480" y="1749240"/>
              <a:ext cx="4528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highlight>
                    <a:srgbClr val="c0c0c0"/>
                  </a:highlight>
                  <a:uFillTx/>
                  <a:latin typeface="휴먼둥근헤드라인"/>
                  <a:ea typeface="휴먼둥근헤드라인"/>
                </a:rPr>
                <a:t>03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pic>
          <p:nvPicPr>
            <p:cNvPr id="94" name="그래픽 12" descr="별 3개 평점 단색으로 채워진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241200" y="1933920"/>
              <a:ext cx="534600" cy="534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5" name="TextBox 13"/>
            <p:cNvSpPr/>
            <p:nvPr/>
          </p:nvSpPr>
          <p:spPr>
            <a:xfrm>
              <a:off x="8516520" y="2441520"/>
              <a:ext cx="2169000" cy="36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accent6">
                      <a:lumMod val="50000"/>
                    </a:schemeClr>
                  </a:solidFill>
                  <a:effectLst/>
                  <a:uFillTx/>
                  <a:latin typeface="나눔명조"/>
                  <a:ea typeface="나눔명조"/>
                </a:rPr>
                <a:t>응</a:t>
              </a:r>
              <a:r>
                <a:rPr lang="ko-KR" sz="1800" b="1" u="none" strike="noStrike">
                  <a:solidFill>
                    <a:schemeClr val="dk1"/>
                  </a:solidFill>
                  <a:effectLst/>
                  <a:uFillTx/>
                  <a:latin typeface="나눔명조"/>
                  <a:ea typeface="나눔명조"/>
                </a:rPr>
                <a:t>용 사례와</a:t>
              </a:r>
              <a:r>
                <a:rPr lang="en-US" sz="1800" b="1" u="none" strike="noStrike">
                  <a:solidFill>
                    <a:schemeClr val="dk1"/>
                  </a:solidFill>
                  <a:effectLst/>
                  <a:uFillTx/>
                  <a:latin typeface="나눔명조"/>
                  <a:ea typeface="나눔명조"/>
                </a:rPr>
                <a:t> 확장성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pic>
          <p:nvPicPr>
            <p:cNvPr id="96" name="그래픽 15" descr="추가 단색으로 채워진"/>
            <p:cNvPicPr/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/>
          </p:blipFill>
          <p:spPr>
            <a:xfrm>
              <a:off x="9371520" y="2954520"/>
              <a:ext cx="273960" cy="273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7" name="TextBox 16"/>
            <p:cNvSpPr/>
            <p:nvPr/>
          </p:nvSpPr>
          <p:spPr>
            <a:xfrm>
              <a:off x="8471880" y="3448800"/>
              <a:ext cx="1539360" cy="76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나눔고딕"/>
                  <a:ea typeface="나눔고딕"/>
                </a:rPr>
                <a:t>7. 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나눔고딕"/>
                  <a:ea typeface="나눔고딕"/>
                </a:rPr>
                <a:t>시연 영상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나눔고딕"/>
                  <a:ea typeface="나눔고딕"/>
                </a:rPr>
                <a:t>8. 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나눔고딕"/>
                  <a:ea typeface="나눔고딕"/>
                </a:rPr>
                <a:t>서비스 차별성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나눔고딕"/>
                  <a:ea typeface="나눔고딕"/>
                </a:rPr>
                <a:t>9. 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나눔고딕"/>
                  <a:ea typeface="나눔고딕"/>
                </a:rPr>
                <a:t>확장</a:t>
              </a:r>
              <a:r>
                <a:rPr lang="ko-KR" sz="1600" b="0" u="none" strike="noStrike">
                  <a:solidFill>
                    <a:schemeClr val="dk1"/>
                  </a:solidFill>
                  <a:effectLst/>
                  <a:uFillTx/>
                  <a:latin typeface="나눔고딕"/>
                  <a:ea typeface="나눔고딕"/>
                </a:rPr>
                <a:t>성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</p:grpSp>
      <p:sp>
        <p:nvSpPr>
          <p:cNvPr id="98" name="슬라이드 번호 개체 틀 13"/>
          <p:cNvSpPr/>
          <p:nvPr/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  <a:ea typeface="맑은 고딕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73E2C0-5513-42ED-98ED-1AEFBF13C3B2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직사각형 1"/>
          <p:cNvSpPr/>
          <p:nvPr/>
        </p:nvSpPr>
        <p:spPr>
          <a:xfrm>
            <a:off x="0" y="6519600"/>
            <a:ext cx="1218816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cxnSp>
        <p:nvCxnSpPr>
          <p:cNvPr id="100" name="직선 연결선 3"/>
          <p:cNvCxnSpPr/>
          <p:nvPr/>
        </p:nvCxnSpPr>
        <p:spPr>
          <a:xfrm>
            <a:off x="674640" y="933120"/>
            <a:ext cx="10831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01" name="TextBox 17"/>
          <p:cNvSpPr/>
          <p:nvPr/>
        </p:nvSpPr>
        <p:spPr>
          <a:xfrm>
            <a:off x="5022720" y="4215960"/>
            <a:ext cx="2549520" cy="46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2400" b="0" u="none" spc="-300" strike="noStrike">
                <a:solidFill>
                  <a:schemeClr val="lt1"/>
                </a:solidFill>
                <a:effectLst/>
                <a:uFillTx/>
                <a:latin typeface="나눔명조"/>
                <a:ea typeface="나눔명조"/>
              </a:rPr>
              <a:t>아버지 </a:t>
            </a:r>
            <a:r>
              <a:rPr lang="en-US" sz="2400" b="0" u="none" spc="-300" strike="noStrike">
                <a:solidFill>
                  <a:schemeClr val="lt1"/>
                </a:solidFill>
                <a:effectLst/>
                <a:uFillTx/>
                <a:latin typeface="나눔명조"/>
                <a:ea typeface="나눔명조"/>
              </a:rPr>
              <a:t>– 싸이</a:t>
            </a:r>
            <a:r>
              <a:rPr lang="en-US" sz="2400" b="0" u="none" spc="-300" strike="noStrike">
                <a:solidFill>
                  <a:schemeClr val="lt1"/>
                </a:solidFill>
                <a:effectLst/>
                <a:uFillTx/>
                <a:latin typeface="나눔명조"/>
                <a:ea typeface="나눔명조"/>
              </a:rPr>
              <a:t>(PSY)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2" name="TextBox 18"/>
          <p:cNvSpPr/>
          <p:nvPr/>
        </p:nvSpPr>
        <p:spPr>
          <a:xfrm>
            <a:off x="4708080" y="4760280"/>
            <a:ext cx="3178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나눔명조"/>
                <a:ea typeface="나눔명조"/>
              </a:rPr>
              <a:t>“ </a:t>
            </a:r>
            <a:r>
              <a:rPr lang="ko-KR" sz="1600" b="0" u="none" strike="noStrike">
                <a:solidFill>
                  <a:schemeClr val="lt1"/>
                </a:solidFill>
                <a:effectLst/>
                <a:uFillTx/>
                <a:latin typeface="나눔명조"/>
                <a:ea typeface="나눔명조"/>
              </a:rPr>
              <a:t>아버지</a:t>
            </a: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나눔명조"/>
                <a:ea typeface="나눔명조"/>
              </a:rPr>
              <a:t>, </a:t>
            </a:r>
            <a:r>
              <a:rPr lang="ko-KR" sz="1600" b="0" u="none" strike="noStrike">
                <a:solidFill>
                  <a:schemeClr val="lt1"/>
                </a:solidFill>
                <a:effectLst/>
                <a:uFillTx/>
                <a:latin typeface="나눔명조"/>
                <a:ea typeface="나눔명조"/>
              </a:rPr>
              <a:t>어찌 그렇게 사셨나요</a:t>
            </a: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나눔명조"/>
                <a:ea typeface="나눔명조"/>
              </a:rPr>
              <a:t>? “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3" name="TextBox 5"/>
          <p:cNvSpPr/>
          <p:nvPr/>
        </p:nvSpPr>
        <p:spPr>
          <a:xfrm>
            <a:off x="1800000" y="5486400"/>
            <a:ext cx="9323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나눔명조"/>
                <a:ea typeface="나눔명조"/>
              </a:rPr>
              <a:t>장소와 사용자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나눔명조"/>
                <a:ea typeface="나눔명조"/>
              </a:rPr>
              <a:t>, 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나눔명조"/>
                <a:ea typeface="나눔명조"/>
              </a:rPr>
              <a:t>이용자를 불문하고 </a:t>
            </a:r>
            <a:r>
              <a:rPr lang="ko-KR" sz="2000" b="1" u="none" strike="noStrike">
                <a:solidFill>
                  <a:schemeClr val="dk1"/>
                </a:solidFill>
                <a:effectLst/>
                <a:uFillTx/>
                <a:latin typeface="나눔명조"/>
                <a:ea typeface="나눔명조"/>
              </a:rPr>
              <a:t>대여 장비의 부실 관리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나눔명조"/>
                <a:ea typeface="나눔명조"/>
              </a:rPr>
              <a:t>로 인한 피해가 나타남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3006000" y="141480"/>
            <a:ext cx="61794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1. </a:t>
            </a: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서비스 개요 – 개발 배경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5" name="사각형: 둥근 모서리 14"/>
          <p:cNvSpPr/>
          <p:nvPr/>
        </p:nvSpPr>
        <p:spPr>
          <a:xfrm>
            <a:off x="2337840" y="1454040"/>
            <a:ext cx="7919280" cy="899280"/>
          </a:xfrm>
          <a:prstGeom prst="roundRect">
            <a:avLst>
              <a:gd name="adj" fmla="val 50000"/>
            </a:avLst>
          </a:prstGeom>
          <a:solidFill>
            <a:srgbClr val="e4e4e4"/>
          </a:solidFill>
          <a:ln>
            <a:noFill/>
          </a:ln>
          <a:effectLst>
            <a:outerShdw algn="tl" blurRad="25560" dir="2700000" dist="25455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G마켓 산스 TTF Light"/>
                <a:ea typeface="G마켓 산스 TTF Light"/>
              </a:rPr>
              <a:t>2024. 11. 08 </a:t>
            </a:r>
            <a:r>
              <a:rPr lang="ko-KR" sz="16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G마켓 산스 TTF Light"/>
                <a:ea typeface="G마켓 산스 TTF Light"/>
              </a:rPr>
              <a:t>퍼블릭 타임스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나눔명조"/>
                <a:ea typeface="나눔명조"/>
              </a:rPr>
              <a:t>“ GPS</a:t>
            </a:r>
            <a:r>
              <a:rPr lang="ko-KR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나눔명조"/>
                <a:ea typeface="나눔명조"/>
              </a:rPr>
              <a:t>추적 가능 따릉이</a:t>
            </a: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나눔명조"/>
                <a:ea typeface="나눔명조"/>
              </a:rPr>
              <a:t>, 2652</a:t>
            </a:r>
            <a:r>
              <a:rPr lang="ko-KR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나눔명조"/>
                <a:ea typeface="나눔명조"/>
              </a:rPr>
              <a:t>대 도난 당하고 </a:t>
            </a: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나눔명조"/>
                <a:ea typeface="나눔명조"/>
              </a:rPr>
              <a:t>172</a:t>
            </a:r>
            <a:r>
              <a:rPr lang="ko-KR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나눔명조"/>
                <a:ea typeface="나눔명조"/>
              </a:rPr>
              <a:t>대 ‘미회수’ 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6" name="사각형: 둥근 모서리 15"/>
          <p:cNvSpPr/>
          <p:nvPr/>
        </p:nvSpPr>
        <p:spPr>
          <a:xfrm>
            <a:off x="2337840" y="2767680"/>
            <a:ext cx="7919280" cy="899280"/>
          </a:xfrm>
          <a:prstGeom prst="roundRect">
            <a:avLst>
              <a:gd name="adj" fmla="val 50000"/>
            </a:avLst>
          </a:prstGeom>
          <a:solidFill>
            <a:srgbClr val="e4e4e4"/>
          </a:solidFill>
          <a:ln>
            <a:noFill/>
          </a:ln>
          <a:effectLst>
            <a:outerShdw algn="tl" blurRad="25560" dir="2700000" dist="25455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G마켓 산스 TTF Light"/>
                <a:ea typeface="G마켓 산스 TTF Light"/>
              </a:rPr>
              <a:t>2024. 01. 24 </a:t>
            </a:r>
            <a:r>
              <a:rPr lang="ko-KR" sz="16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G마켓 산스 TTF Light"/>
                <a:ea typeface="G마켓 산스 TTF Light"/>
              </a:rPr>
              <a:t>연합 매일 신문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나눔명조"/>
                <a:ea typeface="나눔명조"/>
              </a:rPr>
              <a:t>“</a:t>
            </a:r>
            <a:r>
              <a:rPr lang="ko-KR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나눔명조"/>
                <a:ea typeface="나눔명조"/>
              </a:rPr>
              <a:t>전동 킥보드 대여 시 기기 문제로 인한 사고에도 사업자는 면책</a:t>
            </a:r>
            <a:r>
              <a:rPr lang="en-US" sz="18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나눔명조"/>
                <a:ea typeface="나눔명조"/>
              </a:rPr>
              <a:t>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7" name="사각형: 둥근 모서리 20"/>
          <p:cNvSpPr/>
          <p:nvPr/>
        </p:nvSpPr>
        <p:spPr>
          <a:xfrm>
            <a:off x="2337840" y="4127040"/>
            <a:ext cx="7919280" cy="899280"/>
          </a:xfrm>
          <a:prstGeom prst="roundRect">
            <a:avLst>
              <a:gd name="adj" fmla="val 50000"/>
            </a:avLst>
          </a:prstGeom>
          <a:solidFill>
            <a:srgbClr val="e4e4e4"/>
          </a:solidFill>
          <a:ln>
            <a:noFill/>
          </a:ln>
          <a:effectLst>
            <a:outerShdw algn="tl" blurRad="25560" dir="2700000" dist="25455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G마켓 산스 TTF Light"/>
                <a:ea typeface="G마켓 산스 TTF Light"/>
              </a:rPr>
              <a:t>2021. 10. 02 </a:t>
            </a:r>
            <a:r>
              <a:rPr lang="ko-KR" sz="16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G마켓 산스 TTF Light"/>
                <a:ea typeface="G마켓 산스 TTF Light"/>
              </a:rPr>
              <a:t>뉴스</a:t>
            </a:r>
            <a:r>
              <a:rPr lang="en-US" sz="16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G마켓 산스 TTF Light"/>
                <a:ea typeface="G마켓 산스 TTF Light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나눔명조"/>
                <a:ea typeface="나눔명조"/>
              </a:rPr>
              <a:t>“ 軍 암호장비 분실사고 </a:t>
            </a: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나눔명조"/>
                <a:ea typeface="나눔명조"/>
              </a:rPr>
              <a:t>5</a:t>
            </a:r>
            <a:r>
              <a:rPr lang="ko-KR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나눔명조"/>
                <a:ea typeface="나눔명조"/>
              </a:rPr>
              <a:t>년간 </a:t>
            </a: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나눔명조"/>
                <a:ea typeface="나눔명조"/>
              </a:rPr>
              <a:t>23</a:t>
            </a:r>
            <a:r>
              <a:rPr lang="ko-KR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나눔명조"/>
                <a:ea typeface="나눔명조"/>
              </a:rPr>
              <a:t>건… 음주 후 분실 사례도 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grpSp>
        <p:nvGrpSpPr>
          <p:cNvPr id="108" name="그룹 7"/>
          <p:cNvGrpSpPr/>
          <p:nvPr/>
        </p:nvGrpSpPr>
        <p:grpSpPr>
          <a:xfrm>
            <a:off x="2412720" y="1544040"/>
            <a:ext cx="719280" cy="719640"/>
            <a:chOff x="2412720" y="1544040"/>
            <a:chExt cx="719280" cy="719640"/>
          </a:xfrm>
        </p:grpSpPr>
        <p:sp>
          <p:nvSpPr>
            <p:cNvPr id="109" name="타원 6"/>
            <p:cNvSpPr/>
            <p:nvPr/>
          </p:nvSpPr>
          <p:spPr>
            <a:xfrm>
              <a:off x="2412720" y="1544040"/>
              <a:ext cx="719280" cy="7196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110" name="타원 4"/>
            <p:cNvSpPr/>
            <p:nvPr/>
          </p:nvSpPr>
          <p:spPr>
            <a:xfrm>
              <a:off x="2412720" y="1544040"/>
              <a:ext cx="719280" cy="719640"/>
            </a:xfrm>
            <a:prstGeom prst="ellipse">
              <a:avLst/>
            </a:prstGeom>
            <a:blipFill rotWithShape="0">
              <a:blip r:embed="rId1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맑은 고딕"/>
              </a:endParaRPr>
            </a:p>
          </p:txBody>
        </p:sp>
      </p:grpSp>
      <p:grpSp>
        <p:nvGrpSpPr>
          <p:cNvPr id="111" name="그룹 8"/>
          <p:cNvGrpSpPr/>
          <p:nvPr/>
        </p:nvGrpSpPr>
        <p:grpSpPr>
          <a:xfrm>
            <a:off x="2412720" y="2857680"/>
            <a:ext cx="719280" cy="719640"/>
            <a:chOff x="2412720" y="2857680"/>
            <a:chExt cx="719280" cy="719640"/>
          </a:xfrm>
        </p:grpSpPr>
        <p:sp>
          <p:nvSpPr>
            <p:cNvPr id="112" name="타원 9"/>
            <p:cNvSpPr/>
            <p:nvPr/>
          </p:nvSpPr>
          <p:spPr>
            <a:xfrm>
              <a:off x="2412720" y="2857680"/>
              <a:ext cx="719280" cy="7196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113" name="타원 10"/>
            <p:cNvSpPr/>
            <p:nvPr/>
          </p:nvSpPr>
          <p:spPr>
            <a:xfrm>
              <a:off x="2412720" y="2857680"/>
              <a:ext cx="719280" cy="719640"/>
            </a:xfrm>
            <a:prstGeom prst="ellipse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맑은 고딕"/>
              </a:endParaRPr>
            </a:p>
          </p:txBody>
        </p:sp>
      </p:grpSp>
      <p:grpSp>
        <p:nvGrpSpPr>
          <p:cNvPr id="114" name="그룹 11"/>
          <p:cNvGrpSpPr/>
          <p:nvPr/>
        </p:nvGrpSpPr>
        <p:grpSpPr>
          <a:xfrm>
            <a:off x="2412720" y="4215960"/>
            <a:ext cx="719280" cy="719640"/>
            <a:chOff x="2412720" y="4215960"/>
            <a:chExt cx="719280" cy="719640"/>
          </a:xfrm>
        </p:grpSpPr>
        <p:sp>
          <p:nvSpPr>
            <p:cNvPr id="115" name="타원 12"/>
            <p:cNvSpPr/>
            <p:nvPr/>
          </p:nvSpPr>
          <p:spPr>
            <a:xfrm>
              <a:off x="2412720" y="4215960"/>
              <a:ext cx="719280" cy="7196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116" name="타원 13"/>
            <p:cNvSpPr/>
            <p:nvPr/>
          </p:nvSpPr>
          <p:spPr>
            <a:xfrm>
              <a:off x="2412720" y="4215960"/>
              <a:ext cx="719280" cy="719640"/>
            </a:xfrm>
            <a:prstGeom prst="ellipse">
              <a:avLst/>
            </a:prstGeom>
            <a:blipFill rotWithShape="0">
              <a:blip r:embed="rId3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맑은 고딕"/>
              </a:endParaRPr>
            </a:p>
          </p:txBody>
        </p:sp>
      </p:grpSp>
      <p:sp>
        <p:nvSpPr>
          <p:cNvPr id="117" name="슬라이드 번호 개체 틀 13"/>
          <p:cNvSpPr/>
          <p:nvPr/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  <a:ea typeface="맑은 고딕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312A95-50B8-4818-8833-F65C8C30625C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직사각형 1"/>
          <p:cNvSpPr/>
          <p:nvPr/>
        </p:nvSpPr>
        <p:spPr>
          <a:xfrm>
            <a:off x="0" y="6519600"/>
            <a:ext cx="1218816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cxnSp>
        <p:nvCxnSpPr>
          <p:cNvPr id="119" name="직선 연결선 3"/>
          <p:cNvCxnSpPr/>
          <p:nvPr/>
        </p:nvCxnSpPr>
        <p:spPr>
          <a:xfrm>
            <a:off x="674640" y="933120"/>
            <a:ext cx="10831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20" name="TextBox 5"/>
          <p:cNvSpPr/>
          <p:nvPr/>
        </p:nvSpPr>
        <p:spPr>
          <a:xfrm>
            <a:off x="1944720" y="5924520"/>
            <a:ext cx="829044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신종 피싱 수법까지 등장하여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, 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기존의 대여 시스템은 안전하다고 할 수 없게 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1" name="TextBox 6"/>
          <p:cNvSpPr/>
          <p:nvPr/>
        </p:nvSpPr>
        <p:spPr>
          <a:xfrm>
            <a:off x="3006000" y="141480"/>
            <a:ext cx="61794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1. </a:t>
            </a: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서비스 개요 – 개발 배경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22" name="Picture 4"/>
          <p:cNvPicPr/>
          <p:nvPr/>
        </p:nvPicPr>
        <p:blipFill>
          <a:blip r:embed="rId1"/>
          <a:stretch/>
        </p:blipFill>
        <p:spPr>
          <a:xfrm>
            <a:off x="1247040" y="1211400"/>
            <a:ext cx="4434480" cy="443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Picture 6"/>
          <p:cNvPicPr/>
          <p:nvPr/>
        </p:nvPicPr>
        <p:blipFill>
          <a:blip r:embed="rId2"/>
          <a:stretch/>
        </p:blipFill>
        <p:spPr>
          <a:xfrm>
            <a:off x="6276240" y="1210320"/>
            <a:ext cx="4434480" cy="443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슬라이드 번호 개체 틀 13"/>
          <p:cNvSpPr/>
          <p:nvPr/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  <a:ea typeface="맑은 고딕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설명선: 위쪽 화살표 13"/>
          <p:cNvSpPr/>
          <p:nvPr/>
        </p:nvSpPr>
        <p:spPr>
          <a:xfrm>
            <a:off x="4236840" y="5181840"/>
            <a:ext cx="3842640" cy="938160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gradFill rotWithShape="0">
            <a:gsLst>
              <a:gs pos="0">
                <a:srgbClr val="a6a6a6"/>
              </a:gs>
              <a:gs pos="50000">
                <a:srgbClr val="bfbfbf"/>
              </a:gs>
              <a:gs pos="83000">
                <a:srgbClr val="f2f2f2"/>
              </a:gs>
              <a:gs pos="100000">
                <a:srgbClr val="ffffff"/>
              </a:gs>
            </a:gsLst>
            <a:lin ang="5400000"/>
          </a:gra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= </a:t>
            </a:r>
            <a:r>
              <a:rPr lang="ko-KR" sz="16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거금을 들여 만든 시스템이라도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6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이용하고 관리하기 어려움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6" name="직사각형 1"/>
          <p:cNvSpPr/>
          <p:nvPr/>
        </p:nvSpPr>
        <p:spPr>
          <a:xfrm>
            <a:off x="0" y="6519600"/>
            <a:ext cx="1218816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cxnSp>
        <p:nvCxnSpPr>
          <p:cNvPr id="127" name="직선 연결선 3"/>
          <p:cNvCxnSpPr/>
          <p:nvPr/>
        </p:nvCxnSpPr>
        <p:spPr>
          <a:xfrm>
            <a:off x="674640" y="933120"/>
            <a:ext cx="10831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28" name="설명선: 선 2"/>
          <p:cNvSpPr/>
          <p:nvPr/>
        </p:nvSpPr>
        <p:spPr>
          <a:xfrm>
            <a:off x="471960" y="1988640"/>
            <a:ext cx="1854720" cy="1091160"/>
          </a:xfrm>
          <a:prstGeom prst="borderCallout1">
            <a:avLst>
              <a:gd name="adj1" fmla="val 65092"/>
              <a:gd name="adj2" fmla="val 188318"/>
              <a:gd name="adj3" fmla="val 40142"/>
              <a:gd name="adj4" fmla="val 110949"/>
            </a:avLst>
          </a:prstGeom>
          <a:solidFill>
            <a:schemeClr val="bg2">
              <a:lumMod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낮은 활용률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9" name="설명선: 선 7"/>
          <p:cNvSpPr/>
          <p:nvPr/>
        </p:nvSpPr>
        <p:spPr>
          <a:xfrm>
            <a:off x="471960" y="3826440"/>
            <a:ext cx="1854720" cy="1091160"/>
          </a:xfrm>
          <a:prstGeom prst="borderCallout1">
            <a:avLst>
              <a:gd name="adj1" fmla="val 25254"/>
              <a:gd name="adj2" fmla="val 187839"/>
              <a:gd name="adj3" fmla="val 40142"/>
              <a:gd name="adj4" fmla="val 110949"/>
            </a:avLst>
          </a:prstGeom>
          <a:solidFill>
            <a:schemeClr val="bg2">
              <a:lumMod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1600" b="0" u="none" strike="noStrike">
                <a:solidFill>
                  <a:schemeClr val="dk2"/>
                </a:solidFill>
                <a:effectLst/>
                <a:uFillTx/>
                <a:latin typeface="맑은 고딕"/>
              </a:rPr>
              <a:t>품질 관리 미흡함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0" name="설명선: 선 9"/>
          <p:cNvSpPr/>
          <p:nvPr/>
        </p:nvSpPr>
        <p:spPr>
          <a:xfrm flipH="1">
            <a:off x="9988920" y="1988640"/>
            <a:ext cx="1854720" cy="1091160"/>
          </a:xfrm>
          <a:prstGeom prst="borderCallout1">
            <a:avLst>
              <a:gd name="adj1" fmla="val 65092"/>
              <a:gd name="adj2" fmla="val 188318"/>
              <a:gd name="adj3" fmla="val 40142"/>
              <a:gd name="adj4" fmla="val 110949"/>
            </a:avLst>
          </a:prstGeom>
          <a:solidFill>
            <a:schemeClr val="bg2">
              <a:lumMod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1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중복 구매 및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재고 관리의 어려움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1" name="설명선: 선 10"/>
          <p:cNvSpPr/>
          <p:nvPr/>
        </p:nvSpPr>
        <p:spPr>
          <a:xfrm flipH="1">
            <a:off x="9988920" y="3826440"/>
            <a:ext cx="1854720" cy="1091160"/>
          </a:xfrm>
          <a:prstGeom prst="borderCallout1">
            <a:avLst>
              <a:gd name="adj1" fmla="val 25254"/>
              <a:gd name="adj2" fmla="val 187839"/>
              <a:gd name="adj3" fmla="val 40142"/>
              <a:gd name="adj4" fmla="val 110949"/>
            </a:avLst>
          </a:prstGeom>
          <a:solidFill>
            <a:schemeClr val="bg2">
              <a:lumMod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접근성 한계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2" name="TextBox 11"/>
          <p:cNvSpPr/>
          <p:nvPr/>
        </p:nvSpPr>
        <p:spPr>
          <a:xfrm>
            <a:off x="4402440" y="1149480"/>
            <a:ext cx="351180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기존 대여 장비 시스템의 문제점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3" name="TextBox 4"/>
          <p:cNvSpPr/>
          <p:nvPr/>
        </p:nvSpPr>
        <p:spPr>
          <a:xfrm>
            <a:off x="2327400" y="163080"/>
            <a:ext cx="732024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1. </a:t>
            </a: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서비스 개요 – 발견 된 문제점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34" name="Picture 4" descr="レンタサイクルのイラスト | かわいいフリー素材集 いらすとや"/>
          <p:cNvPicPr/>
          <p:nvPr/>
        </p:nvPicPr>
        <p:blipFill>
          <a:blip r:embed="rId1"/>
          <a:stretch/>
        </p:blipFill>
        <p:spPr>
          <a:xfrm>
            <a:off x="4101120" y="1734480"/>
            <a:ext cx="4113720" cy="354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슬라이드 번호 개체 틀 13"/>
          <p:cNvSpPr/>
          <p:nvPr/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  <a:ea typeface="맑은 고딕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28599C-F2DA-4EFF-BF51-80303AB8CC41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직사각형 1"/>
          <p:cNvSpPr/>
          <p:nvPr/>
        </p:nvSpPr>
        <p:spPr>
          <a:xfrm>
            <a:off x="0" y="6519600"/>
            <a:ext cx="1218816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cxnSp>
        <p:nvCxnSpPr>
          <p:cNvPr id="137" name="직선 연결선 3"/>
          <p:cNvCxnSpPr/>
          <p:nvPr/>
        </p:nvCxnSpPr>
        <p:spPr>
          <a:xfrm>
            <a:off x="674640" y="933120"/>
            <a:ext cx="10831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graphicFrame>
        <p:nvGraphicFramePr>
          <p:cNvPr id="138" name="Diagram1"/>
          <p:cNvGraphicFramePr/>
          <p:nvPr>
            <p:extLst>
              <p:ext uri="{D42A27DB-BD31-4B8C-83A1-F6EECF244321}">
                <p14:modId xmlns:p14="http://schemas.microsoft.com/office/powerpoint/2010/main" val="748229274"/>
              </p:ext>
            </p:extLst>
          </p:nvPr>
        </p:nvGraphicFramePr>
        <p:xfrm>
          <a:off x="1103040" y="1211040"/>
          <a:ext cx="9973800" cy="4739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39" name="TextBox 4"/>
          <p:cNvSpPr/>
          <p:nvPr/>
        </p:nvSpPr>
        <p:spPr>
          <a:xfrm>
            <a:off x="3005280" y="141480"/>
            <a:ext cx="618084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1. </a:t>
            </a: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서비스 개요 – 해결 방안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40" name="그림 5"/>
          <p:cNvPicPr/>
          <p:nvPr/>
        </p:nvPicPr>
        <p:blipFill>
          <a:blip r:embed="rId6"/>
          <a:stretch/>
        </p:blipFill>
        <p:spPr>
          <a:xfrm>
            <a:off x="5189760" y="3715920"/>
            <a:ext cx="2207880" cy="220788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</p:pic>
      <p:sp>
        <p:nvSpPr>
          <p:cNvPr id="141" name="슬라이드 번호 개체 틀 13"/>
          <p:cNvSpPr/>
          <p:nvPr/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  <a:ea typeface="맑은 고딕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EDB9E7-5CC9-444C-8037-5BB146B7C366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직사각형 1"/>
          <p:cNvSpPr/>
          <p:nvPr/>
        </p:nvSpPr>
        <p:spPr>
          <a:xfrm>
            <a:off x="0" y="6519600"/>
            <a:ext cx="1218816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Malgun Gothic Semilight"/>
            </a:endParaRPr>
          </a:p>
        </p:txBody>
      </p:sp>
      <p:cxnSp>
        <p:nvCxnSpPr>
          <p:cNvPr id="143" name="직선 연결선 3"/>
          <p:cNvCxnSpPr/>
          <p:nvPr/>
        </p:nvCxnSpPr>
        <p:spPr>
          <a:xfrm>
            <a:off x="674640" y="933120"/>
            <a:ext cx="10831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44" name="TextBox 5"/>
          <p:cNvSpPr/>
          <p:nvPr/>
        </p:nvSpPr>
        <p:spPr>
          <a:xfrm>
            <a:off x="2574000" y="159840"/>
            <a:ext cx="70434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2. </a:t>
            </a: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사용 기술 – 사용 기술 요약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5" name="TextBox 19"/>
          <p:cNvSpPr/>
          <p:nvPr/>
        </p:nvSpPr>
        <p:spPr>
          <a:xfrm>
            <a:off x="1561320" y="1131840"/>
            <a:ext cx="70434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KoPub돋움체 Bold"/>
                <a:ea typeface="KoPub돋움체 Bold"/>
              </a:rPr>
              <a:t>1. User Side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6" name="TextBox 21"/>
          <p:cNvSpPr/>
          <p:nvPr/>
        </p:nvSpPr>
        <p:spPr>
          <a:xfrm>
            <a:off x="1561320" y="2748960"/>
            <a:ext cx="70434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KoPub돋움체 Bold"/>
                <a:ea typeface="KoPub돋움체 Bold"/>
              </a:rPr>
              <a:t>2. Development Side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7" name="TextBox 22"/>
          <p:cNvSpPr/>
          <p:nvPr/>
        </p:nvSpPr>
        <p:spPr>
          <a:xfrm>
            <a:off x="1561320" y="4673160"/>
            <a:ext cx="70434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KoPub돋움체 Bold"/>
                <a:ea typeface="KoPub돋움체 Bold"/>
              </a:rPr>
              <a:t>3. DB </a:t>
            </a:r>
            <a:r>
              <a:rPr lang="ko-KR" sz="36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KoPub돋움체 Bold"/>
                <a:ea typeface="KoPub돋움체 Bold"/>
              </a:rPr>
              <a:t>및 </a:t>
            </a:r>
            <a:r>
              <a:rPr lang="en-US" sz="36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KoPub돋움체 Bold"/>
                <a:ea typeface="KoPub돋움체 Bold"/>
              </a:rPr>
              <a:t>AI Server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48" name="그림 32"/>
          <p:cNvPicPr/>
          <p:nvPr/>
        </p:nvPicPr>
        <p:blipFill>
          <a:blip r:embed="rId1"/>
          <a:stretch/>
        </p:blipFill>
        <p:spPr>
          <a:xfrm>
            <a:off x="3574080" y="1673640"/>
            <a:ext cx="1152000" cy="107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그림 34"/>
          <p:cNvPicPr/>
          <p:nvPr/>
        </p:nvPicPr>
        <p:blipFill>
          <a:blip r:embed="rId2"/>
          <a:stretch/>
        </p:blipFill>
        <p:spPr>
          <a:xfrm>
            <a:off x="2000160" y="3369600"/>
            <a:ext cx="985320" cy="102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그림 36"/>
          <p:cNvPicPr/>
          <p:nvPr/>
        </p:nvPicPr>
        <p:blipFill>
          <a:blip r:embed="rId3"/>
          <a:stretch/>
        </p:blipFill>
        <p:spPr>
          <a:xfrm>
            <a:off x="1816560" y="5308920"/>
            <a:ext cx="861840" cy="99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그림 38"/>
          <p:cNvPicPr/>
          <p:nvPr/>
        </p:nvPicPr>
        <p:blipFill>
          <a:blip r:embed="rId4"/>
          <a:stretch/>
        </p:blipFill>
        <p:spPr>
          <a:xfrm>
            <a:off x="2790000" y="5308920"/>
            <a:ext cx="821880" cy="101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그림 40"/>
          <p:cNvPicPr/>
          <p:nvPr/>
        </p:nvPicPr>
        <p:blipFill>
          <a:blip r:embed="rId5"/>
          <a:stretch/>
        </p:blipFill>
        <p:spPr>
          <a:xfrm>
            <a:off x="3796200" y="5308920"/>
            <a:ext cx="941400" cy="99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그림 42"/>
          <p:cNvPicPr/>
          <p:nvPr/>
        </p:nvPicPr>
        <p:blipFill>
          <a:blip r:embed="rId6"/>
          <a:stretch/>
        </p:blipFill>
        <p:spPr>
          <a:xfrm>
            <a:off x="4849200" y="5274720"/>
            <a:ext cx="1098360" cy="103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그림 44"/>
          <p:cNvPicPr/>
          <p:nvPr/>
        </p:nvPicPr>
        <p:blipFill>
          <a:blip r:embed="rId7"/>
          <a:stretch/>
        </p:blipFill>
        <p:spPr>
          <a:xfrm>
            <a:off x="3117600" y="3756600"/>
            <a:ext cx="1995120" cy="66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그림 46"/>
          <p:cNvPicPr/>
          <p:nvPr/>
        </p:nvPicPr>
        <p:blipFill>
          <a:blip r:embed="rId8"/>
          <a:stretch/>
        </p:blipFill>
        <p:spPr>
          <a:xfrm>
            <a:off x="1718640" y="1902600"/>
            <a:ext cx="1827360" cy="64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그림 48"/>
          <p:cNvPicPr/>
          <p:nvPr/>
        </p:nvPicPr>
        <p:blipFill>
          <a:blip r:embed="rId9"/>
          <a:stretch/>
        </p:blipFill>
        <p:spPr>
          <a:xfrm>
            <a:off x="5224320" y="3914280"/>
            <a:ext cx="149292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슬라이드 번호 개체 틀 13"/>
          <p:cNvSpPr/>
          <p:nvPr/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  <a:ea typeface="맑은 고딕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58" name="Picture 2" descr="YOLOv8: Object Detection Algorithm for Accurate Recognition"/>
          <p:cNvPicPr/>
          <p:nvPr/>
        </p:nvPicPr>
        <p:blipFill>
          <a:blip r:embed="rId10"/>
          <a:stretch/>
        </p:blipFill>
        <p:spPr>
          <a:xfrm>
            <a:off x="5948280" y="5431680"/>
            <a:ext cx="2294640" cy="76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DB1A88-C0CF-4B92-90AA-F04542838F9A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직사각형 1"/>
          <p:cNvSpPr/>
          <p:nvPr/>
        </p:nvSpPr>
        <p:spPr>
          <a:xfrm>
            <a:off x="0" y="6519600"/>
            <a:ext cx="1218816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Malgun Gothic Semilight"/>
            </a:endParaRPr>
          </a:p>
        </p:txBody>
      </p:sp>
      <p:cxnSp>
        <p:nvCxnSpPr>
          <p:cNvPr id="160" name="직선 연결선 3"/>
          <p:cNvCxnSpPr/>
          <p:nvPr/>
        </p:nvCxnSpPr>
        <p:spPr>
          <a:xfrm>
            <a:off x="674640" y="933120"/>
            <a:ext cx="10831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61" name="TextBox 5"/>
          <p:cNvSpPr/>
          <p:nvPr/>
        </p:nvSpPr>
        <p:spPr>
          <a:xfrm>
            <a:off x="3354120" y="159120"/>
            <a:ext cx="570096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2. </a:t>
            </a: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사용 기술 – 작동 원리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2" name="TextBox 14"/>
          <p:cNvSpPr/>
          <p:nvPr/>
        </p:nvSpPr>
        <p:spPr>
          <a:xfrm>
            <a:off x="5725440" y="1063800"/>
            <a:ext cx="9583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대여 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3" name="사각형: 둥근 모서리 46"/>
          <p:cNvSpPr/>
          <p:nvPr/>
        </p:nvSpPr>
        <p:spPr>
          <a:xfrm>
            <a:off x="1974960" y="1627920"/>
            <a:ext cx="8552160" cy="107928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164" name="직사각형 47"/>
          <p:cNvSpPr/>
          <p:nvPr/>
        </p:nvSpPr>
        <p:spPr>
          <a:xfrm>
            <a:off x="2949480" y="1806480"/>
            <a:ext cx="7379280" cy="745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HY헤드라인M"/>
                <a:ea typeface="HY헤드라인M"/>
              </a:rPr>
              <a:t>   촬영 된 장비 자동 인식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5" name="사각형: 둥근 모서리 55"/>
          <p:cNvSpPr/>
          <p:nvPr/>
        </p:nvSpPr>
        <p:spPr>
          <a:xfrm>
            <a:off x="1974960" y="2900160"/>
            <a:ext cx="8552160" cy="107928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166" name="직사각형 56"/>
          <p:cNvSpPr/>
          <p:nvPr/>
        </p:nvSpPr>
        <p:spPr>
          <a:xfrm>
            <a:off x="2949480" y="3078720"/>
            <a:ext cx="7379280" cy="745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HY헤드라인M"/>
                <a:ea typeface="HY헤드라인M"/>
              </a:rPr>
              <a:t>   대여 전 장비 상태 표시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7" name="사각형: 둥근 모서리 58"/>
          <p:cNvSpPr/>
          <p:nvPr/>
        </p:nvSpPr>
        <p:spPr>
          <a:xfrm>
            <a:off x="1974960" y="4137120"/>
            <a:ext cx="8552160" cy="107928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168" name="직사각형 59"/>
          <p:cNvSpPr/>
          <p:nvPr/>
        </p:nvSpPr>
        <p:spPr>
          <a:xfrm>
            <a:off x="2949480" y="4315320"/>
            <a:ext cx="7379280" cy="745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HY헤드라인M"/>
                <a:ea typeface="HY헤드라인M"/>
              </a:rPr>
              <a:t>   현재 대여 가능 여부 확인 가능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69" name="그림 25"/>
          <p:cNvPicPr/>
          <p:nvPr/>
        </p:nvPicPr>
        <p:blipFill>
          <a:blip r:embed="rId1"/>
          <a:stretch/>
        </p:blipFill>
        <p:spPr>
          <a:xfrm>
            <a:off x="2045520" y="1809000"/>
            <a:ext cx="827280" cy="82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그림 27"/>
          <p:cNvPicPr/>
          <p:nvPr/>
        </p:nvPicPr>
        <p:blipFill>
          <a:blip r:embed="rId2"/>
          <a:stretch/>
        </p:blipFill>
        <p:spPr>
          <a:xfrm>
            <a:off x="2045520" y="3079800"/>
            <a:ext cx="827280" cy="82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그림 29"/>
          <p:cNvPicPr/>
          <p:nvPr/>
        </p:nvPicPr>
        <p:blipFill>
          <a:blip r:embed="rId3"/>
          <a:stretch/>
        </p:blipFill>
        <p:spPr>
          <a:xfrm>
            <a:off x="2045520" y="4263120"/>
            <a:ext cx="827280" cy="8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슬라이드 번호 개체 틀 13"/>
          <p:cNvSpPr/>
          <p:nvPr/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  <a:ea typeface="맑은 고딕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3" name="사각형: 둥근 모서리 1"/>
          <p:cNvSpPr/>
          <p:nvPr/>
        </p:nvSpPr>
        <p:spPr>
          <a:xfrm>
            <a:off x="1980000" y="5400000"/>
            <a:ext cx="8552160" cy="107928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E5B57E-F43F-42AC-BEB7-45DCF20B3C7B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직사각형 1"/>
          <p:cNvSpPr/>
          <p:nvPr/>
        </p:nvSpPr>
        <p:spPr>
          <a:xfrm>
            <a:off x="0" y="6519600"/>
            <a:ext cx="1218816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Malgun Gothic Semilight"/>
            </a:endParaRPr>
          </a:p>
        </p:txBody>
      </p:sp>
      <p:cxnSp>
        <p:nvCxnSpPr>
          <p:cNvPr id="175" name="직선 연결선 3"/>
          <p:cNvCxnSpPr/>
          <p:nvPr/>
        </p:nvCxnSpPr>
        <p:spPr>
          <a:xfrm>
            <a:off x="674640" y="933120"/>
            <a:ext cx="10831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76" name="TextBox 5"/>
          <p:cNvSpPr/>
          <p:nvPr/>
        </p:nvSpPr>
        <p:spPr>
          <a:xfrm>
            <a:off x="3354120" y="159120"/>
            <a:ext cx="570096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2. </a:t>
            </a: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사용 기술 – 작동 원리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7" name="슬라이드 번호 개체 틀 13"/>
          <p:cNvSpPr/>
          <p:nvPr/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  <a:ea typeface="맑은 고딕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78" name="그림 12" descr="텍스트, 스크린샷, 폰트이(가) 표시된 사진&#10;&#10;AI 생성 콘텐츠는 정확하지 않을 수 있습니다."/>
          <p:cNvPicPr/>
          <p:nvPr/>
        </p:nvPicPr>
        <p:blipFill>
          <a:blip r:embed="rId1"/>
          <a:stretch/>
        </p:blipFill>
        <p:spPr>
          <a:xfrm>
            <a:off x="5166720" y="1944000"/>
            <a:ext cx="5704920" cy="252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Box 15"/>
          <p:cNvSpPr/>
          <p:nvPr/>
        </p:nvSpPr>
        <p:spPr>
          <a:xfrm>
            <a:off x="2102400" y="5264640"/>
            <a:ext cx="796500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관리자는 관리중인 실제 존재하는 장비의 데이터를 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DB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에 등록해둘 수 있음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80" name="그림 17" descr="상품상세 | 소모품샵 | 삼성전자서비스"/>
          <p:cNvPicPr/>
          <p:nvPr/>
        </p:nvPicPr>
        <p:blipFill>
          <a:blip r:embed="rId2"/>
          <a:stretch/>
        </p:blipFill>
        <p:spPr>
          <a:xfrm>
            <a:off x="1198440" y="1672200"/>
            <a:ext cx="3066480" cy="30664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1" name="직선 화살표 연결선 8"/>
          <p:cNvCxnSpPr/>
          <p:nvPr/>
        </p:nvCxnSpPr>
        <p:spPr>
          <a:xfrm>
            <a:off x="4151160" y="3210120"/>
            <a:ext cx="906840" cy="72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6D588C-B39A-4684-8694-2B313F93B094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직사각형 1"/>
          <p:cNvSpPr/>
          <p:nvPr/>
        </p:nvSpPr>
        <p:spPr>
          <a:xfrm>
            <a:off x="0" y="6519600"/>
            <a:ext cx="1218816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Malgun Gothic Semilight"/>
            </a:endParaRPr>
          </a:p>
        </p:txBody>
      </p:sp>
      <p:cxnSp>
        <p:nvCxnSpPr>
          <p:cNvPr id="183" name="직선 연결선 3"/>
          <p:cNvCxnSpPr/>
          <p:nvPr/>
        </p:nvCxnSpPr>
        <p:spPr>
          <a:xfrm>
            <a:off x="674640" y="933120"/>
            <a:ext cx="10831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84" name="TextBox 5"/>
          <p:cNvSpPr/>
          <p:nvPr/>
        </p:nvSpPr>
        <p:spPr>
          <a:xfrm>
            <a:off x="3354120" y="159120"/>
            <a:ext cx="570096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2. </a:t>
            </a: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사용 기술 – 작동 원리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85" name="Picture 2" descr="AMD '피닉스 APU' 품은 레노버 노트북 5월 선보인다 - 에누리 쇼핑지식 뉴스"/>
          <p:cNvPicPr/>
          <p:nvPr/>
        </p:nvPicPr>
        <p:blipFill>
          <a:blip r:embed="rId1"/>
          <a:stretch/>
        </p:blipFill>
        <p:spPr>
          <a:xfrm>
            <a:off x="5702760" y="4001760"/>
            <a:ext cx="3453120" cy="220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Picture 4" descr="노트북 모델명 일련번호 확인 및 정품등록"/>
          <p:cNvPicPr/>
          <p:nvPr/>
        </p:nvPicPr>
        <p:blipFill>
          <a:blip r:embed="rId2"/>
          <a:stretch/>
        </p:blipFill>
        <p:spPr>
          <a:xfrm>
            <a:off x="5803920" y="1859040"/>
            <a:ext cx="3114000" cy="8870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7" name="직선 화살표 연결선 4"/>
          <p:cNvCxnSpPr/>
          <p:nvPr/>
        </p:nvCxnSpPr>
        <p:spPr>
          <a:xfrm>
            <a:off x="8918280" y="2188080"/>
            <a:ext cx="906840" cy="72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188" name="직선 화살표 연결선 6"/>
          <p:cNvCxnSpPr/>
          <p:nvPr/>
        </p:nvCxnSpPr>
        <p:spPr>
          <a:xfrm>
            <a:off x="8918280" y="4905360"/>
            <a:ext cx="942120" cy="72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triangle" w="med"/>
          </a:ln>
        </p:spPr>
      </p:cxnSp>
      <p:pic>
        <p:nvPicPr>
          <p:cNvPr id="189" name="그림 7"/>
          <p:cNvPicPr/>
          <p:nvPr/>
        </p:nvPicPr>
        <p:blipFill>
          <a:blip r:embed="rId3"/>
          <a:stretch/>
        </p:blipFill>
        <p:spPr>
          <a:xfrm>
            <a:off x="10001160" y="1446120"/>
            <a:ext cx="1671480" cy="157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타원 11"/>
          <p:cNvSpPr/>
          <p:nvPr/>
        </p:nvSpPr>
        <p:spPr>
          <a:xfrm>
            <a:off x="6032520" y="4631760"/>
            <a:ext cx="713520" cy="713520"/>
          </a:xfrm>
          <a:prstGeom prst="ellipse">
            <a:avLst/>
          </a:prstGeom>
          <a:noFill/>
          <a:ln>
            <a:solidFill>
              <a:srgbClr val="ff0000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pic>
        <p:nvPicPr>
          <p:cNvPr id="191" name="Picture 6" descr="CUDA&amp;OpenCV] Python 환경 OpenCV GPU 연동 (CUDA backend in OpenCV) - 2. 빌드 &amp; 테스트"/>
          <p:cNvPicPr/>
          <p:nvPr/>
        </p:nvPicPr>
        <p:blipFill>
          <a:blip r:embed="rId4"/>
          <a:stretch/>
        </p:blipFill>
        <p:spPr>
          <a:xfrm>
            <a:off x="1183320" y="2566800"/>
            <a:ext cx="1877760" cy="23133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92" name="직선 연결선 15"/>
          <p:cNvCxnSpPr>
            <a:stCxn id="191" idx="3"/>
          </p:cNvCxnSpPr>
          <p:nvPr/>
        </p:nvCxnSpPr>
        <p:spPr>
          <a:xfrm flipV="1">
            <a:off x="3061080" y="2414160"/>
            <a:ext cx="2276640" cy="1309680"/>
          </a:xfrm>
          <a:prstGeom prst="straightConnector1">
            <a:avLst/>
          </a:prstGeom>
          <a:ln w="0">
            <a:solidFill>
              <a:srgbClr val="aeaeae"/>
            </a:solidFill>
          </a:ln>
        </p:spPr>
      </p:cxnSp>
      <p:cxnSp>
        <p:nvCxnSpPr>
          <p:cNvPr id="193" name="직선 연결선 18"/>
          <p:cNvCxnSpPr/>
          <p:nvPr/>
        </p:nvCxnSpPr>
        <p:spPr>
          <a:xfrm>
            <a:off x="3061800" y="3723840"/>
            <a:ext cx="2275920" cy="1315440"/>
          </a:xfrm>
          <a:prstGeom prst="straightConnector1">
            <a:avLst/>
          </a:prstGeom>
          <a:ln w="0">
            <a:solidFill>
              <a:srgbClr val="aeaeae"/>
            </a:solidFill>
          </a:ln>
        </p:spPr>
      </p:cxnSp>
      <p:sp>
        <p:nvSpPr>
          <p:cNvPr id="194" name="직사각형 24"/>
          <p:cNvSpPr/>
          <p:nvPr/>
        </p:nvSpPr>
        <p:spPr>
          <a:xfrm>
            <a:off x="5948640" y="3969720"/>
            <a:ext cx="2961720" cy="2135880"/>
          </a:xfrm>
          <a:prstGeom prst="rect">
            <a:avLst/>
          </a:prstGeom>
          <a:noFill/>
          <a:ln>
            <a:solidFill>
              <a:srgbClr val="ff0000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195" name="TextBox 28"/>
          <p:cNvSpPr/>
          <p:nvPr/>
        </p:nvSpPr>
        <p:spPr>
          <a:xfrm>
            <a:off x="5803920" y="1436040"/>
            <a:ext cx="35395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시리얼 코드가 존재할 경우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6" name="TextBox 30"/>
          <p:cNvSpPr/>
          <p:nvPr/>
        </p:nvSpPr>
        <p:spPr>
          <a:xfrm>
            <a:off x="5803920" y="3541680"/>
            <a:ext cx="392040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시리얼 코드가 존재하지 않을 경우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7" name="슬라이드 번호 개체 틀 13"/>
          <p:cNvSpPr/>
          <p:nvPr/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  <a:ea typeface="맑은 고딕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98" name="Picture 2" descr="YOLOv8: Object Detection Algorithm for Accurate Recognition"/>
          <p:cNvPicPr/>
          <p:nvPr/>
        </p:nvPicPr>
        <p:blipFill>
          <a:blip r:embed="rId5"/>
          <a:stretch/>
        </p:blipFill>
        <p:spPr>
          <a:xfrm>
            <a:off x="9824400" y="4627800"/>
            <a:ext cx="1848600" cy="61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TextBox 9"/>
          <p:cNvSpPr/>
          <p:nvPr/>
        </p:nvSpPr>
        <p:spPr>
          <a:xfrm>
            <a:off x="349200" y="1872720"/>
            <a:ext cx="35395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사용자 장비 촬영 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200" name="그림 12" descr="텍스트, 일러스트레이션, 디자인이(가) 표시된 사진&#10;&#10;AI 생성 콘텐츠는 정확하지 않을 수 있습니다."/>
          <p:cNvPicPr/>
          <p:nvPr/>
        </p:nvPicPr>
        <p:blipFill>
          <a:blip r:embed="rId6"/>
          <a:stretch/>
        </p:blipFill>
        <p:spPr>
          <a:xfrm>
            <a:off x="10412640" y="3636000"/>
            <a:ext cx="941400" cy="99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Box 16"/>
          <p:cNvSpPr/>
          <p:nvPr/>
        </p:nvSpPr>
        <p:spPr>
          <a:xfrm>
            <a:off x="432720" y="4985640"/>
            <a:ext cx="35395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Python Side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로 전송 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OPEN CV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를 통해 분석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992F4B-A9DD-4BC6-A452-AEE4C067C4B3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직사각형 1"/>
          <p:cNvSpPr/>
          <p:nvPr/>
        </p:nvSpPr>
        <p:spPr>
          <a:xfrm>
            <a:off x="0" y="6519600"/>
            <a:ext cx="1218816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Malgun Gothic Semilight"/>
            </a:endParaRPr>
          </a:p>
        </p:txBody>
      </p:sp>
      <p:cxnSp>
        <p:nvCxnSpPr>
          <p:cNvPr id="203" name="직선 연결선 3"/>
          <p:cNvCxnSpPr/>
          <p:nvPr/>
        </p:nvCxnSpPr>
        <p:spPr>
          <a:xfrm>
            <a:off x="674640" y="933120"/>
            <a:ext cx="10831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204" name="TextBox 5"/>
          <p:cNvSpPr/>
          <p:nvPr/>
        </p:nvSpPr>
        <p:spPr>
          <a:xfrm>
            <a:off x="3354120" y="159120"/>
            <a:ext cx="570096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2. </a:t>
            </a: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사용 기술 – 작동 원리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5" name="슬라이드 번호 개체 틀 13"/>
          <p:cNvSpPr/>
          <p:nvPr/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  <a:ea typeface="맑은 고딕"/>
              </a:rPr>
              <a:t>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206" name="그림 7" descr="갤럭시 탭 S9 FE 3가지 색상 언박싱 및 리뷰(후기) : 네이버 블로그"/>
          <p:cNvPicPr/>
          <p:nvPr/>
        </p:nvPicPr>
        <p:blipFill>
          <a:blip r:embed="rId1"/>
          <a:stretch/>
        </p:blipFill>
        <p:spPr>
          <a:xfrm>
            <a:off x="370800" y="2395440"/>
            <a:ext cx="2751840" cy="20660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07" name="직선 화살표 연결선 10"/>
          <p:cNvCxnSpPr/>
          <p:nvPr/>
        </p:nvCxnSpPr>
        <p:spPr>
          <a:xfrm>
            <a:off x="3119760" y="3377520"/>
            <a:ext cx="906480" cy="72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triangle" w="med"/>
          </a:ln>
        </p:spPr>
      </p:cxnSp>
      <p:pic>
        <p:nvPicPr>
          <p:cNvPr id="208" name="Picture 2" descr="YOLOv8: Object Detection Algorithm for Accurate Recognition"/>
          <p:cNvPicPr/>
          <p:nvPr/>
        </p:nvPicPr>
        <p:blipFill>
          <a:blip r:embed="rId2"/>
          <a:stretch/>
        </p:blipFill>
        <p:spPr>
          <a:xfrm>
            <a:off x="4025880" y="3066840"/>
            <a:ext cx="1848600" cy="614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09" name="직선 화살표 연결선 18"/>
          <p:cNvCxnSpPr/>
          <p:nvPr/>
        </p:nvCxnSpPr>
        <p:spPr>
          <a:xfrm>
            <a:off x="5870520" y="3377520"/>
            <a:ext cx="906480" cy="72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triangle" w="med"/>
          </a:ln>
        </p:spPr>
      </p:cxnSp>
      <p:pic>
        <p:nvPicPr>
          <p:cNvPr id="210" name="그림 22" descr="텍스트, 스크린샷, 폰트, 번호이(가) 표시된 사진&#10;&#10;AI 생성 콘텐츠는 정확하지 않을 수 있습니다."/>
          <p:cNvPicPr/>
          <p:nvPr/>
        </p:nvPicPr>
        <p:blipFill>
          <a:blip r:embed="rId3"/>
          <a:stretch/>
        </p:blipFill>
        <p:spPr>
          <a:xfrm>
            <a:off x="7160040" y="1721880"/>
            <a:ext cx="4190400" cy="32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E7CBDD-0D53-4AA3-8574-3A58B8F747AB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직사각형 1"/>
          <p:cNvSpPr/>
          <p:nvPr/>
        </p:nvSpPr>
        <p:spPr>
          <a:xfrm>
            <a:off x="0" y="6519600"/>
            <a:ext cx="1218816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Malgun Gothic Semilight"/>
            </a:endParaRPr>
          </a:p>
        </p:txBody>
      </p:sp>
      <p:cxnSp>
        <p:nvCxnSpPr>
          <p:cNvPr id="212" name="직선 연결선 3"/>
          <p:cNvCxnSpPr/>
          <p:nvPr/>
        </p:nvCxnSpPr>
        <p:spPr>
          <a:xfrm>
            <a:off x="674640" y="933120"/>
            <a:ext cx="10831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213" name="TextBox 5"/>
          <p:cNvSpPr/>
          <p:nvPr/>
        </p:nvSpPr>
        <p:spPr>
          <a:xfrm>
            <a:off x="3354120" y="159120"/>
            <a:ext cx="570096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2. </a:t>
            </a: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사용 기술 – 작동 원리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4" name="슬라이드 번호 개체 틀 13"/>
          <p:cNvSpPr/>
          <p:nvPr/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  <a:ea typeface="맑은 고딕"/>
              </a:rPr>
              <a:t>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cxnSp>
        <p:nvCxnSpPr>
          <p:cNvPr id="215" name="직선 화살표 연결선 26"/>
          <p:cNvCxnSpPr/>
          <p:nvPr/>
        </p:nvCxnSpPr>
        <p:spPr>
          <a:xfrm>
            <a:off x="5461560" y="3442680"/>
            <a:ext cx="906480" cy="72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triangle" w="med"/>
          </a:ln>
        </p:spPr>
      </p:cxnSp>
      <p:pic>
        <p:nvPicPr>
          <p:cNvPr id="216" name="그림 12" descr="텍스트, 스크린샷, 폰트, 번호이(가) 표시된 사진&#10;&#10;AI 생성 콘텐츠는 정확하지 않을 수 있습니다."/>
          <p:cNvPicPr/>
          <p:nvPr/>
        </p:nvPicPr>
        <p:blipFill>
          <a:blip r:embed="rId1"/>
          <a:stretch/>
        </p:blipFill>
        <p:spPr>
          <a:xfrm>
            <a:off x="952560" y="1833480"/>
            <a:ext cx="4190400" cy="32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TextBox 30"/>
          <p:cNvSpPr/>
          <p:nvPr/>
        </p:nvSpPr>
        <p:spPr>
          <a:xfrm>
            <a:off x="2034360" y="5617800"/>
            <a:ext cx="80161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AI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는 이미지를 분석한 후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JSON 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형태로 반환함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이를 기반으로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DB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에 존재하는 장비를 검색하기 위해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검색용 배열을 생성하는 과정을 거침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218" name="그림 34" descr="텍스트, 전자제품, 스크린샷, 디스플레이이(가) 표시된 사진&#10;&#10;AI 생성 콘텐츠는 정확하지 않을 수 있습니다."/>
          <p:cNvPicPr/>
          <p:nvPr/>
        </p:nvPicPr>
        <p:blipFill>
          <a:blip r:embed="rId2"/>
          <a:stretch/>
        </p:blipFill>
        <p:spPr>
          <a:xfrm>
            <a:off x="6808320" y="1373760"/>
            <a:ext cx="4419720" cy="404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2791A1-6BC1-4956-82DE-D081483A5459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" name="직선 화살표 연결선 21"/>
          <p:cNvCxnSpPr/>
          <p:nvPr/>
        </p:nvCxnSpPr>
        <p:spPr>
          <a:xfrm>
            <a:off x="3212640" y="2494800"/>
            <a:ext cx="5400" cy="53964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20" name="직사각형 1"/>
          <p:cNvSpPr/>
          <p:nvPr/>
        </p:nvSpPr>
        <p:spPr>
          <a:xfrm>
            <a:off x="0" y="6519600"/>
            <a:ext cx="1218816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Malgun Gothic Semilight"/>
            </a:endParaRPr>
          </a:p>
        </p:txBody>
      </p:sp>
      <p:cxnSp>
        <p:nvCxnSpPr>
          <p:cNvPr id="221" name="직선 연결선 3"/>
          <p:cNvCxnSpPr/>
          <p:nvPr/>
        </p:nvCxnSpPr>
        <p:spPr>
          <a:xfrm>
            <a:off x="674640" y="933120"/>
            <a:ext cx="10831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222" name="TextBox 5"/>
          <p:cNvSpPr/>
          <p:nvPr/>
        </p:nvSpPr>
        <p:spPr>
          <a:xfrm>
            <a:off x="3354120" y="159120"/>
            <a:ext cx="570096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2. </a:t>
            </a: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사용 기술 – 작동 원리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3" name="슬라이드 번호 개체 틀 13"/>
          <p:cNvSpPr/>
          <p:nvPr/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  <a:ea typeface="맑은 고딕"/>
              </a:rPr>
              <a:t>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224" name="그림 13" descr="텍스트, 스크린샷, 폰트, 라인이(가) 표시된 사진&#10;&#10;AI 생성 콘텐츠는 정확하지 않을 수 있습니다."/>
          <p:cNvPicPr/>
          <p:nvPr/>
        </p:nvPicPr>
        <p:blipFill>
          <a:blip r:embed="rId1"/>
          <a:stretch/>
        </p:blipFill>
        <p:spPr>
          <a:xfrm>
            <a:off x="1167120" y="1431360"/>
            <a:ext cx="4114080" cy="113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TextBox 16"/>
          <p:cNvSpPr/>
          <p:nvPr/>
        </p:nvSpPr>
        <p:spPr>
          <a:xfrm>
            <a:off x="3217320" y="5710680"/>
            <a:ext cx="598536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생성된 검색용 배열을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DB 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내 각 장비의 속성과 비교하여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가장 유사한 후보 장비를 필터링하여 출력함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226" name="그림 17" descr="텍스트, 스크린샷, 폰트, 번호이(가) 표시된 사진&#10;&#10;AI 생성 콘텐츠는 정확하지 않을 수 있습니다."/>
          <p:cNvPicPr/>
          <p:nvPr/>
        </p:nvPicPr>
        <p:blipFill>
          <a:blip r:embed="rId2"/>
          <a:stretch/>
        </p:blipFill>
        <p:spPr>
          <a:xfrm>
            <a:off x="7633440" y="1715400"/>
            <a:ext cx="3857040" cy="335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그림 19" descr="텍스트, 스크린샷, 폰트이(가) 표시된 사진&#10;&#10;AI 생성 콘텐츠는 정확하지 않을 수 있습니다."/>
          <p:cNvPicPr/>
          <p:nvPr/>
        </p:nvPicPr>
        <p:blipFill>
          <a:blip r:embed="rId3"/>
          <a:stretch/>
        </p:blipFill>
        <p:spPr>
          <a:xfrm>
            <a:off x="390240" y="3031200"/>
            <a:ext cx="5704920" cy="252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화살표: 오른쪽 22"/>
          <p:cNvSpPr/>
          <p:nvPr/>
        </p:nvSpPr>
        <p:spPr>
          <a:xfrm>
            <a:off x="6465960" y="3220560"/>
            <a:ext cx="923760" cy="425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430A56-94F6-409D-A548-717468FBFABE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직사각형 1"/>
          <p:cNvSpPr/>
          <p:nvPr/>
        </p:nvSpPr>
        <p:spPr>
          <a:xfrm>
            <a:off x="0" y="6519600"/>
            <a:ext cx="1218816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Malgun Gothic Semilight"/>
            </a:endParaRPr>
          </a:p>
        </p:txBody>
      </p:sp>
      <p:cxnSp>
        <p:nvCxnSpPr>
          <p:cNvPr id="230" name="직선 연결선 3"/>
          <p:cNvCxnSpPr/>
          <p:nvPr/>
        </p:nvCxnSpPr>
        <p:spPr>
          <a:xfrm>
            <a:off x="674640" y="933120"/>
            <a:ext cx="10831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231" name="TextBox 5"/>
          <p:cNvSpPr/>
          <p:nvPr/>
        </p:nvSpPr>
        <p:spPr>
          <a:xfrm>
            <a:off x="3354120" y="159120"/>
            <a:ext cx="570096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2. </a:t>
            </a: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사용 기술 – 작동 원리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2" name="TextBox 14"/>
          <p:cNvSpPr/>
          <p:nvPr/>
        </p:nvSpPr>
        <p:spPr>
          <a:xfrm>
            <a:off x="5725440" y="1063800"/>
            <a:ext cx="9583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대여 중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233" name="그림 2"/>
          <p:cNvPicPr/>
          <p:nvPr/>
        </p:nvPicPr>
        <p:blipFill>
          <a:blip r:embed="rId1"/>
          <a:stretch/>
        </p:blipFill>
        <p:spPr>
          <a:xfrm>
            <a:off x="169560" y="1793880"/>
            <a:ext cx="3403440" cy="34034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34" name="직선 화살표 연결선 7"/>
          <p:cNvCxnSpPr/>
          <p:nvPr/>
        </p:nvCxnSpPr>
        <p:spPr>
          <a:xfrm>
            <a:off x="2746440" y="3502800"/>
            <a:ext cx="1290240" cy="720"/>
          </a:xfrm>
          <a:prstGeom prst="straightConnector1">
            <a:avLst/>
          </a:prstGeom>
          <a:ln w="0">
            <a:solidFill>
              <a:srgbClr val="0e2841"/>
            </a:solidFill>
            <a:tailEnd len="med" type="triangle" w="med"/>
          </a:ln>
        </p:spPr>
      </p:cxnSp>
      <p:pic>
        <p:nvPicPr>
          <p:cNvPr id="235" name="Picture 2" descr="위치 - 무료 표지판개 아이콘"/>
          <p:cNvPicPr/>
          <p:nvPr/>
        </p:nvPicPr>
        <p:blipFill>
          <a:blip r:embed="rId2"/>
          <a:stretch/>
        </p:blipFill>
        <p:spPr>
          <a:xfrm>
            <a:off x="4036320" y="2690640"/>
            <a:ext cx="1623600" cy="1623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36" name="직선 연결선 31"/>
          <p:cNvCxnSpPr/>
          <p:nvPr/>
        </p:nvCxnSpPr>
        <p:spPr>
          <a:xfrm>
            <a:off x="6204600" y="1432800"/>
            <a:ext cx="720" cy="49075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237" name="TextBox 38"/>
          <p:cNvSpPr/>
          <p:nvPr/>
        </p:nvSpPr>
        <p:spPr>
          <a:xfrm>
            <a:off x="1169640" y="5739840"/>
            <a:ext cx="40518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맑은 고딕"/>
                <a:ea typeface="나눔명조"/>
              </a:rPr>
              <a:t>장비 사용 중 백그라운드에서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맑은 고딕"/>
                <a:ea typeface="나눔명조"/>
              </a:rPr>
              <a:t>위치 정보를 기록함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8" name="슬라이드 번호 개체 틀 13"/>
          <p:cNvSpPr/>
          <p:nvPr/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  <a:ea typeface="맑은 고딕"/>
              </a:rPr>
              <a:t>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239" name=""/>
          <p:cNvPicPr/>
          <p:nvPr/>
        </p:nvPicPr>
        <p:blipFill>
          <a:blip r:embed="rId3"/>
          <a:stretch/>
        </p:blipFill>
        <p:spPr>
          <a:xfrm>
            <a:off x="8460000" y="2340000"/>
            <a:ext cx="1510920" cy="341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0" name=""/>
          <p:cNvPicPr/>
          <p:nvPr/>
        </p:nvPicPr>
        <p:blipFill>
          <a:blip r:embed="rId4"/>
          <a:stretch/>
        </p:blipFill>
        <p:spPr>
          <a:xfrm>
            <a:off x="8820000" y="1440000"/>
            <a:ext cx="899640" cy="8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1" name=""/>
          <p:cNvPicPr/>
          <p:nvPr/>
        </p:nvPicPr>
        <p:blipFill>
          <a:blip r:embed="rId5"/>
          <a:stretch/>
        </p:blipFill>
        <p:spPr>
          <a:xfrm>
            <a:off x="6597720" y="1980000"/>
            <a:ext cx="1681920" cy="179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TextBox 1"/>
          <p:cNvSpPr/>
          <p:nvPr/>
        </p:nvSpPr>
        <p:spPr>
          <a:xfrm>
            <a:off x="7200000" y="5933880"/>
            <a:ext cx="40518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맑은 고딕"/>
                <a:ea typeface="나눔명조"/>
              </a:rPr>
              <a:t>사용 종료 전 알림 기능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88B066-F610-4742-BF72-D83D5EC4B7E4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직사각형 1"/>
          <p:cNvSpPr/>
          <p:nvPr/>
        </p:nvSpPr>
        <p:spPr>
          <a:xfrm>
            <a:off x="0" y="6519600"/>
            <a:ext cx="1218816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Malgun Gothic Semilight"/>
            </a:endParaRPr>
          </a:p>
        </p:txBody>
      </p:sp>
      <p:cxnSp>
        <p:nvCxnSpPr>
          <p:cNvPr id="244" name="직선 연결선 3"/>
          <p:cNvCxnSpPr/>
          <p:nvPr/>
        </p:nvCxnSpPr>
        <p:spPr>
          <a:xfrm>
            <a:off x="674640" y="933120"/>
            <a:ext cx="10831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245" name="TextBox 5"/>
          <p:cNvSpPr/>
          <p:nvPr/>
        </p:nvSpPr>
        <p:spPr>
          <a:xfrm>
            <a:off x="3354120" y="159120"/>
            <a:ext cx="570096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2. </a:t>
            </a: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사용 기술 – 작동 원리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6" name="TextBox 14"/>
          <p:cNvSpPr/>
          <p:nvPr/>
        </p:nvSpPr>
        <p:spPr>
          <a:xfrm>
            <a:off x="5725440" y="1063800"/>
            <a:ext cx="9583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대여 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247" name="Picture 2" descr="보고서 - 무료 파일 및 폴더개 아이콘"/>
          <p:cNvPicPr/>
          <p:nvPr/>
        </p:nvPicPr>
        <p:blipFill>
          <a:blip r:embed="rId1"/>
          <a:stretch/>
        </p:blipFill>
        <p:spPr>
          <a:xfrm>
            <a:off x="1197000" y="1797840"/>
            <a:ext cx="3308760" cy="33087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48" name="직선 연결선 6"/>
          <p:cNvCxnSpPr/>
          <p:nvPr/>
        </p:nvCxnSpPr>
        <p:spPr>
          <a:xfrm flipH="1">
            <a:off x="3981240" y="1853640"/>
            <a:ext cx="1496160" cy="759600"/>
          </a:xfrm>
          <a:prstGeom prst="straightConnector1">
            <a:avLst/>
          </a:prstGeom>
          <a:ln w="0">
            <a:solidFill>
              <a:srgbClr val="000000"/>
            </a:solidFill>
            <a:headEnd len="med" type="triangle" w="med"/>
          </a:ln>
        </p:spPr>
      </p:cxnSp>
      <p:cxnSp>
        <p:nvCxnSpPr>
          <p:cNvPr id="249" name="직선 연결선 9"/>
          <p:cNvCxnSpPr/>
          <p:nvPr/>
        </p:nvCxnSpPr>
        <p:spPr>
          <a:xfrm>
            <a:off x="4047840" y="3645000"/>
            <a:ext cx="1600920" cy="72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250" name="직선 연결선 18"/>
          <p:cNvCxnSpPr/>
          <p:nvPr/>
        </p:nvCxnSpPr>
        <p:spPr>
          <a:xfrm>
            <a:off x="3981240" y="4852440"/>
            <a:ext cx="1667520" cy="66744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sp>
        <p:nvSpPr>
          <p:cNvPr id="251" name="직사각형 24"/>
          <p:cNvSpPr/>
          <p:nvPr/>
        </p:nvSpPr>
        <p:spPr>
          <a:xfrm>
            <a:off x="5725440" y="5185800"/>
            <a:ext cx="4838040" cy="482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HY헤드라인M"/>
              <a:ea typeface="HY헤드라인M"/>
            </a:endParaRPr>
          </a:p>
        </p:txBody>
      </p:sp>
      <p:sp>
        <p:nvSpPr>
          <p:cNvPr id="252" name="직사각형 26"/>
          <p:cNvSpPr/>
          <p:nvPr/>
        </p:nvSpPr>
        <p:spPr>
          <a:xfrm>
            <a:off x="5819760" y="1452960"/>
            <a:ext cx="4838040" cy="482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HY헤드라인M"/>
                <a:ea typeface="HY헤드라인M"/>
              </a:rPr>
              <a:t>대여 중 발생한 손상 자동 탐지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3" name="직사각형 27"/>
          <p:cNvSpPr/>
          <p:nvPr/>
        </p:nvSpPr>
        <p:spPr>
          <a:xfrm>
            <a:off x="5819760" y="1900800"/>
            <a:ext cx="4838040" cy="482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HY헤드라인M"/>
                <a:ea typeface="HY헤드라인M"/>
              </a:rPr>
              <a:t>동일 장비 여부 확인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4" name="직사각형 28"/>
          <p:cNvSpPr/>
          <p:nvPr/>
        </p:nvSpPr>
        <p:spPr>
          <a:xfrm>
            <a:off x="5819760" y="3175920"/>
            <a:ext cx="4838040" cy="482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HY헤드라인M"/>
                <a:ea typeface="HY헤드라인M"/>
              </a:rPr>
              <a:t>사용 데이터 레포트 제공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5" name="직사각형 29"/>
          <p:cNvSpPr/>
          <p:nvPr/>
        </p:nvSpPr>
        <p:spPr>
          <a:xfrm>
            <a:off x="5819760" y="5178240"/>
            <a:ext cx="4838040" cy="482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HY헤드라인M"/>
                <a:ea typeface="HY헤드라인M"/>
              </a:rPr>
              <a:t>개인 별 장비 사용 통계 저장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6" name="직사각형 30"/>
          <p:cNvSpPr/>
          <p:nvPr/>
        </p:nvSpPr>
        <p:spPr>
          <a:xfrm>
            <a:off x="5819760" y="5638680"/>
            <a:ext cx="4838040" cy="482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HY헤드라인M"/>
                <a:ea typeface="HY헤드라인M"/>
              </a:rPr>
              <a:t>장비 변화 정보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HY헤드라인M"/>
                <a:ea typeface="HY헤드라인M"/>
              </a:rPr>
              <a:t>DB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HY헤드라인M"/>
                <a:ea typeface="HY헤드라인M"/>
              </a:rPr>
              <a:t>에 저장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7" name="직사각형 32"/>
          <p:cNvSpPr/>
          <p:nvPr/>
        </p:nvSpPr>
        <p:spPr>
          <a:xfrm>
            <a:off x="5819760" y="3630240"/>
            <a:ext cx="4838040" cy="482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HY헤드라인M"/>
                <a:ea typeface="HY헤드라인M"/>
              </a:rPr>
              <a:t>이동 거리 및 경로 시각화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8" name="슬라이드 번호 개체 틀 13"/>
          <p:cNvSpPr/>
          <p:nvPr/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  <a:ea typeface="맑은 고딕"/>
              </a:rPr>
              <a:t>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1B8F43-525A-44CA-9D36-C35B3C9140A6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"/>
          <p:cNvPicPr/>
          <p:nvPr/>
        </p:nvPicPr>
        <p:blipFill>
          <a:blip r:embed="rId1"/>
          <a:stretch/>
        </p:blipFill>
        <p:spPr>
          <a:xfrm>
            <a:off x="8657280" y="1620000"/>
            <a:ext cx="3102480" cy="220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직사각형 3"/>
          <p:cNvSpPr/>
          <p:nvPr/>
        </p:nvSpPr>
        <p:spPr>
          <a:xfrm>
            <a:off x="0" y="6519600"/>
            <a:ext cx="1218816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Malgun Gothic Semilight"/>
            </a:endParaRPr>
          </a:p>
        </p:txBody>
      </p:sp>
      <p:cxnSp>
        <p:nvCxnSpPr>
          <p:cNvPr id="261" name="직선 연결선 5"/>
          <p:cNvCxnSpPr/>
          <p:nvPr/>
        </p:nvCxnSpPr>
        <p:spPr>
          <a:xfrm>
            <a:off x="674640" y="933120"/>
            <a:ext cx="10831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262" name="TextBox 20"/>
          <p:cNvSpPr/>
          <p:nvPr/>
        </p:nvSpPr>
        <p:spPr>
          <a:xfrm>
            <a:off x="3354120" y="159120"/>
            <a:ext cx="5700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2. </a:t>
            </a: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사용 기술 – 작동 원리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263" name="Picture 11" descr="CUDA&amp;OpenCV] Python 환경 OpenCV GPU 연동 (CUDA backend in OpenCV) - 2. 빌드 &amp; 테스트"/>
          <p:cNvPicPr/>
          <p:nvPr/>
        </p:nvPicPr>
        <p:blipFill>
          <a:blip r:embed="rId2"/>
          <a:stretch/>
        </p:blipFill>
        <p:spPr>
          <a:xfrm>
            <a:off x="1183320" y="2566800"/>
            <a:ext cx="1877760" cy="23133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64" name="직선 연결선 10"/>
          <p:cNvCxnSpPr/>
          <p:nvPr/>
        </p:nvCxnSpPr>
        <p:spPr>
          <a:xfrm flipV="1">
            <a:off x="3638520" y="3695760"/>
            <a:ext cx="1222200" cy="10080"/>
          </a:xfrm>
          <a:prstGeom prst="straightConnector1">
            <a:avLst/>
          </a:prstGeom>
          <a:ln w="0">
            <a:solidFill>
              <a:srgbClr val="aeaeae"/>
            </a:solidFill>
          </a:ln>
        </p:spPr>
      </p:cxnSp>
      <p:sp>
        <p:nvSpPr>
          <p:cNvPr id="265" name="슬라이드 번호 개체 틀 2"/>
          <p:cNvSpPr/>
          <p:nvPr/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  <a:ea typeface="맑은 고딕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6" name="TextBox 25"/>
          <p:cNvSpPr/>
          <p:nvPr/>
        </p:nvSpPr>
        <p:spPr>
          <a:xfrm>
            <a:off x="420120" y="1872720"/>
            <a:ext cx="353952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사용자 장비 촬영 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7" name="TextBox 26"/>
          <p:cNvSpPr/>
          <p:nvPr/>
        </p:nvSpPr>
        <p:spPr>
          <a:xfrm>
            <a:off x="432720" y="4985640"/>
            <a:ext cx="3539520" cy="64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Python Side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로 전송 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OPEN CV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를 통해 분석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8" name="TextBox 23"/>
          <p:cNvSpPr/>
          <p:nvPr/>
        </p:nvSpPr>
        <p:spPr>
          <a:xfrm>
            <a:off x="8520120" y="3319560"/>
            <a:ext cx="3539520" cy="21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1. Gemini Vision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촬영된 장비의 확인 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사전에 대여한 것과 일치하는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장비인지 확인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2. Gemini 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분석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촬영된 장비의 손상도 확인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[</a:t>
            </a: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손상도에 따라 점수 부여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]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269" name=""/>
          <p:cNvPicPr/>
          <p:nvPr/>
        </p:nvPicPr>
        <p:blipFill>
          <a:blip r:embed="rId3"/>
          <a:stretch/>
        </p:blipFill>
        <p:spPr>
          <a:xfrm>
            <a:off x="5040000" y="2114640"/>
            <a:ext cx="2519640" cy="2025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70" name="직선 연결선 1"/>
          <p:cNvCxnSpPr/>
          <p:nvPr/>
        </p:nvCxnSpPr>
        <p:spPr>
          <a:xfrm flipV="1">
            <a:off x="7560000" y="3609360"/>
            <a:ext cx="1222200" cy="10080"/>
          </a:xfrm>
          <a:prstGeom prst="straightConnector1">
            <a:avLst/>
          </a:prstGeom>
          <a:ln w="0">
            <a:solidFill>
              <a:srgbClr val="aeaeae"/>
            </a:solidFill>
          </a:ln>
        </p:spPr>
      </p:cxnSp>
      <p:sp>
        <p:nvSpPr>
          <p:cNvPr id="271" name="TextBox 24"/>
          <p:cNvSpPr/>
          <p:nvPr/>
        </p:nvSpPr>
        <p:spPr>
          <a:xfrm>
            <a:off x="4380120" y="4320000"/>
            <a:ext cx="353952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SSIM </a:t>
            </a: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알고리즘 활용하여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동일 환경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[</a:t>
            </a: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기기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] </a:t>
            </a: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및 조건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[</a:t>
            </a: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배경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]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에서 촬영된 사진인지 확인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= </a:t>
            </a: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맑은 고딕"/>
                <a:ea typeface="맑은 고딕"/>
              </a:rPr>
              <a:t>위조된 이미지가 아닌지 판별 가능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A47B23-ADAA-4084-A79E-477C0DA00453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직사각형 1"/>
          <p:cNvSpPr/>
          <p:nvPr/>
        </p:nvSpPr>
        <p:spPr>
          <a:xfrm>
            <a:off x="0" y="6519600"/>
            <a:ext cx="1218816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Malgun Gothic Semilight"/>
            </a:endParaRPr>
          </a:p>
        </p:txBody>
      </p:sp>
      <p:cxnSp>
        <p:nvCxnSpPr>
          <p:cNvPr id="273" name="직선 연결선 3"/>
          <p:cNvCxnSpPr/>
          <p:nvPr/>
        </p:nvCxnSpPr>
        <p:spPr>
          <a:xfrm>
            <a:off x="674640" y="933120"/>
            <a:ext cx="10831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274" name="TextBox 2"/>
          <p:cNvSpPr/>
          <p:nvPr/>
        </p:nvSpPr>
        <p:spPr>
          <a:xfrm>
            <a:off x="4604400" y="143280"/>
            <a:ext cx="29826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3. </a:t>
            </a: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시연 영상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275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013360" y="980280"/>
            <a:ext cx="2467800" cy="5485680"/>
          </a:xfrm>
          <a:prstGeom prst="rect">
            <a:avLst/>
          </a:prstGeom>
          <a:ln w="0">
            <a:noFill/>
          </a:ln>
        </p:spPr>
      </p:pic>
      <p:sp>
        <p:nvSpPr>
          <p:cNvPr id="276" name="슬라이드 번호 개체 틀 13"/>
          <p:cNvSpPr/>
          <p:nvPr/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  <a:ea typeface="맑은 고딕"/>
              </a:rPr>
              <a:t>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1B6F95-751D-41C6-BEA3-1044B3A89F32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>
              <p:cMediaNode>
                <p:cTn>
                  <p:stCondLst>
                    <p:cond delay="indefinite"/>
                  </p:stCondLst>
                </p:cTn>
                <p:tgtEl>
                  <p:spTgt spid="275"/>
                </p:tgtEl>
              </p:cMediaNode>
            </p:video>
            <p:seq>
              <p:cTn id="7" restart="whenNotActive" fill="hold" nodeType="interactiveSeq">
                <p:stCondLst>
                  <p:cond delay="0" evt="onClick">
                    <p:tgtEl>
                      <p:spTgt spid="275"/>
                    </p:tgtEl>
                  </p:cond>
                </p:stCondLst>
                <p:childTnLst>
                  <p:par>
                    <p:cTn id="8" fill="hold">
                      <p:stCondLst>
                        <p:cond delay="0" evt="onClick">
                          <p:tgtEl>
                            <p:spTgt spid="275"/>
                          </p:tgtEl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7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Picture 2" descr="여성소비자신문 모바일 사이트, 농림수산식품 분야 사업계획서 작성에 관해-고객환경분석, SWOT분석"/>
          <p:cNvPicPr/>
          <p:nvPr/>
        </p:nvPicPr>
        <p:blipFill>
          <a:blip r:embed="rId1"/>
          <a:stretch/>
        </p:blipFill>
        <p:spPr>
          <a:xfrm>
            <a:off x="6628680" y="2088000"/>
            <a:ext cx="4876200" cy="327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직사각형 1"/>
          <p:cNvSpPr/>
          <p:nvPr/>
        </p:nvSpPr>
        <p:spPr>
          <a:xfrm>
            <a:off x="0" y="6519600"/>
            <a:ext cx="1233792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Malgun Gothic Semilight"/>
            </a:endParaRPr>
          </a:p>
        </p:txBody>
      </p:sp>
      <p:cxnSp>
        <p:nvCxnSpPr>
          <p:cNvPr id="279" name="직선 연결선 3"/>
          <p:cNvCxnSpPr/>
          <p:nvPr/>
        </p:nvCxnSpPr>
        <p:spPr>
          <a:xfrm>
            <a:off x="674640" y="933120"/>
            <a:ext cx="10831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280" name="TextBox 12"/>
          <p:cNvSpPr/>
          <p:nvPr/>
        </p:nvSpPr>
        <p:spPr>
          <a:xfrm>
            <a:off x="674640" y="1030320"/>
            <a:ext cx="95551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나눔명조"/>
                <a:ea typeface="나눔명조"/>
              </a:rPr>
              <a:t>AI 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나눔명조"/>
                <a:ea typeface="나눔명조"/>
              </a:rPr>
              <a:t>기반 장비 대여 플랫폼의 서비스 차별성에 대한 분석 자료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cxnSp>
        <p:nvCxnSpPr>
          <p:cNvPr id="281" name="직선 연결선 27"/>
          <p:cNvCxnSpPr/>
          <p:nvPr/>
        </p:nvCxnSpPr>
        <p:spPr>
          <a:xfrm>
            <a:off x="674640" y="1496160"/>
            <a:ext cx="514836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graphicFrame>
        <p:nvGraphicFramePr>
          <p:cNvPr id="282" name="Diagram2"/>
          <p:cNvGraphicFramePr/>
          <p:nvPr>
            <p:extLst>
              <p:ext uri="{D42A27DB-BD31-4B8C-83A1-F6EECF244321}">
                <p14:modId xmlns:p14="http://schemas.microsoft.com/office/powerpoint/2010/main" val="1865899404"/>
              </p:ext>
            </p:extLst>
          </p:nvPr>
        </p:nvGraphicFramePr>
        <p:xfrm>
          <a:off x="674640" y="1652040"/>
          <a:ext cx="8104320" cy="4614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83" name="TextBox 8"/>
          <p:cNvSpPr/>
          <p:nvPr/>
        </p:nvSpPr>
        <p:spPr>
          <a:xfrm>
            <a:off x="2557800" y="1962360"/>
            <a:ext cx="130104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lt1">
                    <a:alpha val="30000"/>
                  </a:schemeClr>
                </a:solidFill>
                <a:effectLst/>
                <a:uFillTx/>
                <a:latin typeface="Viner Hand ITC"/>
              </a:rPr>
              <a:t>S</a:t>
            </a:r>
            <a:r>
              <a:rPr lang="en-US" sz="1800" b="0" u="none" strike="noStrike">
                <a:solidFill>
                  <a:schemeClr val="lt1">
                    <a:alpha val="30000"/>
                  </a:schemeClr>
                </a:solidFill>
                <a:effectLst/>
                <a:uFillTx/>
                <a:latin typeface="Viner Hand ITC"/>
              </a:rPr>
              <a:t>trengths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4" name="TextBox 9"/>
          <p:cNvSpPr/>
          <p:nvPr/>
        </p:nvSpPr>
        <p:spPr>
          <a:xfrm>
            <a:off x="6585120" y="2088000"/>
            <a:ext cx="1301040" cy="46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lt1">
                    <a:alpha val="30000"/>
                  </a:schemeClr>
                </a:solidFill>
                <a:effectLst/>
                <a:uFillTx/>
                <a:latin typeface="Viner Hand ITC"/>
              </a:rPr>
              <a:t>W</a:t>
            </a:r>
            <a:r>
              <a:rPr lang="en-US" sz="1800" b="0" u="none" strike="noStrike">
                <a:solidFill>
                  <a:schemeClr val="lt1">
                    <a:alpha val="30000"/>
                  </a:schemeClr>
                </a:solidFill>
                <a:effectLst/>
                <a:uFillTx/>
                <a:latin typeface="Viner Hand ITC"/>
              </a:rPr>
              <a:t>eekness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5" name="TextBox 10"/>
          <p:cNvSpPr/>
          <p:nvPr/>
        </p:nvSpPr>
        <p:spPr>
          <a:xfrm>
            <a:off x="2597760" y="4407840"/>
            <a:ext cx="1967400" cy="46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lt1">
                    <a:alpha val="30000"/>
                  </a:schemeClr>
                </a:solidFill>
                <a:effectLst/>
                <a:uFillTx/>
                <a:latin typeface="Viner Hand ITC"/>
              </a:rPr>
              <a:t>O</a:t>
            </a:r>
            <a:r>
              <a:rPr lang="en-US" sz="1800" b="0" u="none" strike="noStrike">
                <a:solidFill>
                  <a:schemeClr val="lt1">
                    <a:alpha val="30000"/>
                  </a:schemeClr>
                </a:solidFill>
                <a:effectLst/>
                <a:uFillTx/>
                <a:latin typeface="Viner Hand ITC"/>
              </a:rPr>
              <a:t>pportunity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6" name="TextBox 11"/>
          <p:cNvSpPr/>
          <p:nvPr/>
        </p:nvSpPr>
        <p:spPr>
          <a:xfrm>
            <a:off x="6585120" y="4478400"/>
            <a:ext cx="1967400" cy="46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lt1">
                    <a:alpha val="30000"/>
                  </a:schemeClr>
                </a:solidFill>
                <a:effectLst/>
                <a:uFillTx/>
                <a:latin typeface="Viner Hand ITC"/>
              </a:rPr>
              <a:t>T</a:t>
            </a:r>
            <a:r>
              <a:rPr lang="en-US" sz="1800" b="0" u="none" strike="noStrike">
                <a:solidFill>
                  <a:schemeClr val="lt1">
                    <a:alpha val="30000"/>
                  </a:schemeClr>
                </a:solidFill>
                <a:effectLst/>
                <a:uFillTx/>
                <a:latin typeface="Viner Hand ITC"/>
              </a:rPr>
              <a:t>hreat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7" name="TextBox 2"/>
          <p:cNvSpPr/>
          <p:nvPr/>
        </p:nvSpPr>
        <p:spPr>
          <a:xfrm>
            <a:off x="1682640" y="143280"/>
            <a:ext cx="88261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3. </a:t>
            </a: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응용 사례와 확장성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- </a:t>
            </a: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서비스 차별성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8" name="슬라이드 번호 개체 틀 13"/>
          <p:cNvSpPr/>
          <p:nvPr/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  <a:ea typeface="맑은 고딕"/>
              </a:rPr>
              <a:t>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직사각형 1"/>
          <p:cNvSpPr/>
          <p:nvPr/>
        </p:nvSpPr>
        <p:spPr>
          <a:xfrm>
            <a:off x="0" y="6519600"/>
            <a:ext cx="1233792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Malgun Gothic Semilight"/>
            </a:endParaRPr>
          </a:p>
        </p:txBody>
      </p:sp>
      <p:cxnSp>
        <p:nvCxnSpPr>
          <p:cNvPr id="290" name="직선 연결선 3"/>
          <p:cNvCxnSpPr/>
          <p:nvPr/>
        </p:nvCxnSpPr>
        <p:spPr>
          <a:xfrm>
            <a:off x="674640" y="933120"/>
            <a:ext cx="10831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291" name="TextBox 2"/>
          <p:cNvSpPr/>
          <p:nvPr/>
        </p:nvSpPr>
        <p:spPr>
          <a:xfrm>
            <a:off x="1682640" y="143280"/>
            <a:ext cx="88261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3. </a:t>
            </a: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응용 사례와 확장성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- </a:t>
            </a: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서비스 확장성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2" name="TextBox 5"/>
          <p:cNvSpPr/>
          <p:nvPr/>
        </p:nvSpPr>
        <p:spPr>
          <a:xfrm>
            <a:off x="4612320" y="4843080"/>
            <a:ext cx="284184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나눔명조"/>
                <a:ea typeface="나눔명조"/>
              </a:rPr>
              <a:t>2. 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나눔명조"/>
                <a:ea typeface="나눔명조"/>
              </a:rPr>
              <a:t>기업 내부에서 사용하여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나눔명조"/>
                <a:ea typeface="나눔명조"/>
              </a:rPr>
              <a:t>노동자 안전에 기여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3" name="TextBox 13"/>
          <p:cNvSpPr/>
          <p:nvPr/>
        </p:nvSpPr>
        <p:spPr>
          <a:xfrm>
            <a:off x="768240" y="4836600"/>
            <a:ext cx="300204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343080" indent="-343080" algn="ctr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나눔명조"/>
                <a:ea typeface="나눔명조"/>
              </a:rPr>
              <a:t>사용 거리 대비 비용 부여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4" name="TextBox 16"/>
          <p:cNvSpPr/>
          <p:nvPr/>
        </p:nvSpPr>
        <p:spPr>
          <a:xfrm>
            <a:off x="8396640" y="4843080"/>
            <a:ext cx="29041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나눔명조"/>
                <a:ea typeface="나눔명조"/>
              </a:rPr>
              <a:t>3. 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나눔명조"/>
                <a:ea typeface="나눔명조"/>
              </a:rPr>
              <a:t>스마트폰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나눔명조"/>
                <a:ea typeface="나눔명조"/>
              </a:rPr>
              <a:t>, 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나눔명조"/>
                <a:ea typeface="나눔명조"/>
              </a:rPr>
              <a:t>노트북 외에도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나눔명조"/>
                <a:ea typeface="나눔명조"/>
              </a:rPr>
              <a:t>다양한 장비에 적용 가능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295" name="그림 42"/>
          <p:cNvPicPr/>
          <p:nvPr/>
        </p:nvPicPr>
        <p:blipFill>
          <a:blip r:embed="rId1"/>
          <a:stretch/>
        </p:blipFill>
        <p:spPr>
          <a:xfrm>
            <a:off x="1085400" y="2244960"/>
            <a:ext cx="2367720" cy="236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6" name="그림 44"/>
          <p:cNvPicPr/>
          <p:nvPr/>
        </p:nvPicPr>
        <p:blipFill>
          <a:blip r:embed="rId2"/>
          <a:stretch/>
        </p:blipFill>
        <p:spPr>
          <a:xfrm>
            <a:off x="4827960" y="2244960"/>
            <a:ext cx="2367720" cy="236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7" name="그림 46"/>
          <p:cNvPicPr/>
          <p:nvPr/>
        </p:nvPicPr>
        <p:blipFill>
          <a:blip r:embed="rId3"/>
          <a:stretch/>
        </p:blipFill>
        <p:spPr>
          <a:xfrm>
            <a:off x="8021520" y="2319120"/>
            <a:ext cx="2037960" cy="221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8" name="Picture 2" descr="Amplifier - Free music icons"/>
          <p:cNvPicPr/>
          <p:nvPr/>
        </p:nvPicPr>
        <p:blipFill>
          <a:blip r:embed="rId4"/>
          <a:stretch/>
        </p:blipFill>
        <p:spPr>
          <a:xfrm>
            <a:off x="9812160" y="3494880"/>
            <a:ext cx="1454760" cy="145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9" name="Picture 4" descr="Vr - 무료 과학 기술개 아이콘"/>
          <p:cNvPicPr/>
          <p:nvPr/>
        </p:nvPicPr>
        <p:blipFill>
          <a:blip r:embed="rId5"/>
          <a:stretch/>
        </p:blipFill>
        <p:spPr>
          <a:xfrm rot="790800">
            <a:off x="9743040" y="2318400"/>
            <a:ext cx="1523520" cy="152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슬라이드 번호 개체 틀 13"/>
          <p:cNvSpPr/>
          <p:nvPr/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  <a:ea typeface="맑은 고딕"/>
              </a:rPr>
              <a:t>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직사각형 1"/>
          <p:cNvSpPr/>
          <p:nvPr/>
        </p:nvSpPr>
        <p:spPr>
          <a:xfrm>
            <a:off x="0" y="6519600"/>
            <a:ext cx="1233792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Malgun Gothic Semilight"/>
            </a:endParaRPr>
          </a:p>
        </p:txBody>
      </p:sp>
      <p:cxnSp>
        <p:nvCxnSpPr>
          <p:cNvPr id="302" name="직선 연결선 3"/>
          <p:cNvCxnSpPr/>
          <p:nvPr/>
        </p:nvCxnSpPr>
        <p:spPr>
          <a:xfrm>
            <a:off x="674640" y="933120"/>
            <a:ext cx="10831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303" name="TextBox 2"/>
          <p:cNvSpPr/>
          <p:nvPr/>
        </p:nvSpPr>
        <p:spPr>
          <a:xfrm>
            <a:off x="5006520" y="143280"/>
            <a:ext cx="215964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ko-KR" sz="3600" b="0" u="none" strike="noStrike">
                <a:solidFill>
                  <a:schemeClr val="dk1"/>
                </a:solidFill>
                <a:effectLst/>
                <a:uFillTx/>
                <a:latin typeface="휴먼둥근헤드라인"/>
                <a:ea typeface="휴먼둥근헤드라인"/>
              </a:rPr>
              <a:t>소스코드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4" name="슬라이드 번호 개체 틀 13"/>
          <p:cNvSpPr/>
          <p:nvPr/>
        </p:nvSpPr>
        <p:spPr>
          <a:xfrm>
            <a:off x="-2308680" y="871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  <a:ea typeface="맑은 고딕"/>
              </a:rPr>
              <a:t>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직사각형 1"/>
          <p:cNvSpPr/>
          <p:nvPr/>
        </p:nvSpPr>
        <p:spPr>
          <a:xfrm>
            <a:off x="0" y="6519600"/>
            <a:ext cx="12188160" cy="3376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Malgun Gothic Semilight"/>
            </a:endParaRPr>
          </a:p>
        </p:txBody>
      </p:sp>
      <p:cxnSp>
        <p:nvCxnSpPr>
          <p:cNvPr id="306" name="직선 연결선 3"/>
          <p:cNvCxnSpPr/>
          <p:nvPr/>
        </p:nvCxnSpPr>
        <p:spPr>
          <a:xfrm>
            <a:off x="674640" y="933120"/>
            <a:ext cx="10831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307" name="TextBox 2"/>
          <p:cNvSpPr/>
          <p:nvPr/>
        </p:nvSpPr>
        <p:spPr>
          <a:xfrm>
            <a:off x="5304960" y="153000"/>
            <a:ext cx="15714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HY헤드라인M"/>
                <a:ea typeface="HY헤드라인M"/>
              </a:rPr>
              <a:t>Q &amp; 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8" name="TextBox 7"/>
          <p:cNvSpPr/>
          <p:nvPr/>
        </p:nvSpPr>
        <p:spPr>
          <a:xfrm>
            <a:off x="4457520" y="2659680"/>
            <a:ext cx="3489480" cy="7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ko-KR" sz="44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감사합니다</a:t>
            </a: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.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750DFA-5A31-4E6A-8DFB-33F9D3C6CEFD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</TotalTime>
  <Application>LibreOffice/25.8.5.2$Windows_X86_64 LibreOffice_project/9c8b85f387cc00a89945a79c9e6239f32e450ac2</Application>
  <AppVersion>15.0000</AppVersion>
  <Words>614</Words>
  <Paragraphs>137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2025-09-06T20:49:36Z</dcterms:created>
  <dc:creator>효림 이</dc:creator>
  <dc:description/>
  <dc:language>ko-KR</dc:language>
  <cp:lastModifiedBy/>
  <dcterms:modified xsi:type="dcterms:W3CDTF">2026-05-06T00:32:51Z</dcterms:modified>
  <cp:revision>421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와이드스크린</vt:lpwstr>
  </property>
  <property fmtid="{D5CDD505-2E9C-101B-9397-08002B2CF9AE}" pid="4" name="Slides">
    <vt:i4>20</vt:i4>
  </property>
</Properties>
</file>